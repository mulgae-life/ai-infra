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embeddedFontLst>
    <p:embeddedFont>
      <p:font typeface="Hanwha R"/>
      <p:regular r:id="rId1001"/>
    </p:embeddedFont>
    <p:embeddedFont>
      <p:font typeface="Hanwha B"/>
      <p:regular r:id="rId1002"/>
    </p:embeddedFont>
    <p:embeddedFont>
      <p:font typeface="Hanwha L"/>
      <p:regular r:id="rId100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1001" Type="http://schemas.openxmlformats.org/officeDocument/2006/relationships/font" Target="fonts/font1.fntdata"/><Relationship Id="rId1002" Type="http://schemas.openxmlformats.org/officeDocument/2006/relationships/font" Target="fonts/font2.fntdata"/><Relationship Id="rId100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1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58750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ED6F1F"/>
                </a:solidFill>
                <a:latin typeface="Hanwha B"/>
                <a:ea typeface="Hanwha B"/>
              </a:rPr>
              <a:t>초보자용 가이드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905000"/>
            <a:ext cx="5461000" cy="146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>
                <a:solidFill>
                  <a:srgbClr val="1A1A1A"/>
                </a:solidFill>
                <a:latin typeface="Hanwha B"/>
                <a:ea typeface="Hanwha B"/>
              </a:rPr>
              <a:t>Gemma 4 API</a:t>
            </a:r>
          </a:p>
          <a:p>
            <a:pPr algn="l">
              <a:lnSpc>
                <a:spcPct val="110000"/>
              </a:lnSpc>
            </a:pPr>
            <a:r>
              <a:rPr sz="4200">
                <a:solidFill>
                  <a:srgbClr val="1A1A1A"/>
                </a:solidFill>
                <a:latin typeface="Hanwha B"/>
                <a:ea typeface="Hanwha B"/>
              </a:rPr>
              <a:t>시작하기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3460750"/>
            <a:ext cx="5080000" cy="127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3683000"/>
            <a:ext cx="5207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구글 AI Studio에서 Gemma 4를 무료로 쓰는 방법을</a:t>
            </a:r>
          </a:p>
          <a:p>
            <a:pPr algn="l">
              <a:lnSpc>
                <a:spcPct val="160000"/>
              </a:lnSpc>
              <a:spcAft>
                <a:spcPts val="750"/>
              </a:spcAft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화면 순서대로 따라 할 수 있게 정리했습니다.</a:t>
            </a:r>
          </a:p>
          <a:p>
            <a:pPr algn="l">
              <a:lnSpc>
                <a:spcPct val="160000"/>
              </a:lnSpc>
            </a:pPr>
            <a:r>
              <a:rPr sz="1350">
                <a:solidFill>
                  <a:srgbClr val="D85A0E"/>
                </a:solidFill>
                <a:latin typeface="Hanwha B"/>
                <a:ea typeface="Hanwha B"/>
              </a:rPr>
              <a:t>AI Studio에서 써 보기 → API 키 발급 → PC 준비 → 첫 호출</a:t>
            </a:r>
          </a:p>
          <a:p>
            <a:pPr algn="l">
              <a:lnSpc>
                <a:spcPct val="240000"/>
              </a:lnSpc>
            </a:pPr>
            <a:r>
              <a:rPr sz="1200">
                <a:solidFill>
                  <a:srgbClr val="9A9A9A"/>
                </a:solidFill>
                <a:latin typeface="Hanwha R"/>
                <a:ea typeface="Hanwha R"/>
              </a:rPr>
              <a:t>2026. 10</a:t>
            </a:r>
          </a:p>
        </p:txBody>
      </p:sp>
      <p:pic>
        <p:nvPicPr>
          <p:cNvPr id="11" name="Picture 10" descr="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16000"/>
            <a:ext cx="5588000" cy="47435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0" y="1016000"/>
            <a:ext cx="5588000" cy="4743545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2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시작하기 전에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Gemma 4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구글이 공개한 AI 모델입니다. 글을 쓰고 요약하며 이미지도 이해하고, 한국어로 묻고 답합니다.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032000"/>
            <a:ext cx="5461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B"/>
                <a:ea typeface="Hanwha B"/>
              </a:rPr>
              <a:t>쓸 수 있는 모델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2317750"/>
            <a:ext cx="5461000" cy="1079500"/>
          </a:xfrm>
          <a:prstGeom prst="roundRect">
            <a:avLst>
              <a:gd name="adj" fmla="val 7058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200" y="2482850"/>
            <a:ext cx="508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>
                <a:solidFill>
                  <a:srgbClr val="1A1A1A"/>
                </a:solidFill>
                <a:latin typeface="Consolas"/>
                <a:ea typeface="Consolas"/>
              </a:rPr>
              <a:t>gemma-4-26b-a4b-it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90195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>
                <a:solidFill>
                  <a:srgbClr val="4A4A4A"/>
                </a:solidFill>
                <a:latin typeface="Hanwha R"/>
                <a:ea typeface="Hanwha R"/>
              </a:rPr>
              <a:t>가볍고 빠릅니다. 처음엔 이 모델로 시작하세요.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000" y="3524250"/>
            <a:ext cx="5461000" cy="1079500"/>
          </a:xfrm>
          <a:prstGeom prst="roundRect">
            <a:avLst>
              <a:gd name="adj" fmla="val 705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3689350"/>
            <a:ext cx="508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>
                <a:solidFill>
                  <a:srgbClr val="1A1A1A"/>
                </a:solidFill>
                <a:latin typeface="Consolas"/>
                <a:ea typeface="Consolas"/>
              </a:rPr>
              <a:t>gemma-4-31b-it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00" y="410845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5">
                <a:solidFill>
                  <a:srgbClr val="4A4A4A"/>
                </a:solidFill>
                <a:latin typeface="Hanwha R"/>
                <a:ea typeface="Hanwha R"/>
              </a:rPr>
              <a:t>더 크고 꼼꼼합니다. 답이 조금 느립니다.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000" y="2317750"/>
            <a:ext cx="5461000" cy="1079500"/>
          </a:xfrm>
          <a:prstGeom prst="roundRect">
            <a:avLst>
              <a:gd name="adj" fmla="val 705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6200" y="247015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무료지만 한도가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80035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5">
                <a:solidFill>
                  <a:srgbClr val="4A4A4A"/>
                </a:solidFill>
                <a:latin typeface="Hanwha R"/>
                <a:ea typeface="Hanwha R"/>
              </a:rPr>
              <a:t>1분당, 하루당 요청 수에 한도가 있어서 넘으면 잠시 막힙니다. 계정에 따라 결제 연결을 요구하기도 합니다(12쪽).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3000" y="3524250"/>
            <a:ext cx="5461000" cy="1079500"/>
          </a:xfrm>
          <a:prstGeom prst="roundRect">
            <a:avLst>
              <a:gd name="adj" fmla="val 705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6200" y="3676650"/>
            <a:ext cx="508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D85A0E"/>
                </a:solidFill>
                <a:latin typeface="Hanwha B"/>
                <a:ea typeface="Hanwha B"/>
              </a:rPr>
              <a:t>회사 자료는 넣지 마세요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6200" y="400685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5">
                <a:solidFill>
                  <a:srgbClr val="4A4A4A"/>
                </a:solidFill>
                <a:latin typeface="Hanwha R"/>
                <a:ea typeface="Hanwha R"/>
              </a:rPr>
              <a:t>무료 등급에 입력한 내용은 구글 제품 개선에 쓰일 수 있습니다.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5016500"/>
            <a:ext cx="11176000" cy="127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8000" y="5207000"/>
            <a:ext cx="279400" cy="279400"/>
          </a:xfrm>
          <a:prstGeom prst="ellipse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52070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000" y="5207000"/>
            <a:ext cx="2349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>
                <a:solidFill>
                  <a:srgbClr val="1A1A1A"/>
                </a:solidFill>
                <a:latin typeface="Hanwha B"/>
                <a:ea typeface="Hanwha B"/>
              </a:rPr>
              <a:t>AI Studio에서 써 보기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" y="5537200"/>
            <a:ext cx="234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>
                <a:solidFill>
                  <a:srgbClr val="4A4A4A"/>
                </a:solidFill>
                <a:latin typeface="Hanwha R"/>
                <a:ea typeface="Hanwha R"/>
              </a:rPr>
              <a:t>코드 없이 화면에서 질문</a:t>
            </a:r>
          </a:p>
        </p:txBody>
      </p:sp>
      <p:sp>
        <p:nvSpPr>
          <p:cNvPr id="28" name="Oval 27"/>
          <p:cNvSpPr/>
          <p:nvPr/>
        </p:nvSpPr>
        <p:spPr>
          <a:xfrm>
            <a:off x="3302000" y="5207000"/>
            <a:ext cx="279400" cy="279400"/>
          </a:xfrm>
          <a:prstGeom prst="ellipse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02000" y="52070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3000" y="5207000"/>
            <a:ext cx="2349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>
                <a:solidFill>
                  <a:srgbClr val="1A1A1A"/>
                </a:solidFill>
                <a:latin typeface="Hanwha B"/>
                <a:ea typeface="Hanwha B"/>
              </a:rPr>
              <a:t>API 키 발급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3000" y="5537200"/>
            <a:ext cx="234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>
                <a:solidFill>
                  <a:srgbClr val="4A4A4A"/>
                </a:solidFill>
                <a:latin typeface="Hanwha R"/>
                <a:ea typeface="Hanwha R"/>
              </a:rPr>
              <a:t>내 코드가 쓸 비밀번호</a:t>
            </a:r>
          </a:p>
        </p:txBody>
      </p:sp>
      <p:sp>
        <p:nvSpPr>
          <p:cNvPr id="32" name="Oval 31"/>
          <p:cNvSpPr/>
          <p:nvPr/>
        </p:nvSpPr>
        <p:spPr>
          <a:xfrm>
            <a:off x="6096000" y="5207000"/>
            <a:ext cx="279400" cy="279400"/>
          </a:xfrm>
          <a:prstGeom prst="ellipse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0" y="52070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>
                <a:solidFill>
                  <a:srgbClr val="FFFFFF"/>
                </a:solidFill>
                <a:latin typeface="Hanwha B"/>
                <a:ea typeface="Hanwha B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7000" y="5207000"/>
            <a:ext cx="2349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>
                <a:solidFill>
                  <a:srgbClr val="1A1A1A"/>
                </a:solidFill>
                <a:latin typeface="Hanwha B"/>
                <a:ea typeface="Hanwha B"/>
              </a:rPr>
              <a:t>PC 준비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7000" y="5537200"/>
            <a:ext cx="234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>
                <a:solidFill>
                  <a:srgbClr val="4A4A4A"/>
                </a:solidFill>
                <a:latin typeface="Hanwha R"/>
                <a:ea typeface="Hanwha R"/>
              </a:rPr>
              <a:t>Python과 라이브러리 설치</a:t>
            </a:r>
          </a:p>
        </p:txBody>
      </p:sp>
      <p:sp>
        <p:nvSpPr>
          <p:cNvPr id="36" name="Oval 35"/>
          <p:cNvSpPr/>
          <p:nvPr/>
        </p:nvSpPr>
        <p:spPr>
          <a:xfrm>
            <a:off x="8890000" y="5207000"/>
            <a:ext cx="279400" cy="279400"/>
          </a:xfrm>
          <a:prstGeom prst="ellipse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90000" y="52070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>
                <a:solidFill>
                  <a:srgbClr val="FFFFFF"/>
                </a:solidFill>
                <a:latin typeface="Hanwha B"/>
                <a:ea typeface="Hanwha B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1000" y="5207000"/>
            <a:ext cx="23495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75">
                <a:solidFill>
                  <a:srgbClr val="1A1A1A"/>
                </a:solidFill>
                <a:latin typeface="Hanwha B"/>
                <a:ea typeface="Hanwha B"/>
              </a:rPr>
              <a:t>첫 호출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1000" y="5537200"/>
            <a:ext cx="234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75">
                <a:solidFill>
                  <a:srgbClr val="4A4A4A"/>
                </a:solidFill>
                <a:latin typeface="Hanwha R"/>
                <a:ea typeface="Hanwha R"/>
              </a:rPr>
              <a:t>코드 몇 줄로 답 받기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8000" y="6032500"/>
            <a:ext cx="1117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D85A0E"/>
                </a:solidFill>
                <a:latin typeface="Hanwha R"/>
                <a:ea typeface="Hanwha R"/>
              </a:rPr>
              <a:t>1단계만 해도 Gemma 4를 쓸 수 있습니다. 내 프로그램에 붙일 때 2~4단계를 이어서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1단계 · 코드 없이 써 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AI Studio에서 Playground 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aistudio.google.com에 들어가 구글 계정으로 로그인합니다.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508000" y="2159000"/>
            <a:ext cx="254000" cy="2540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21590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21463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Playground 클릭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25019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왼쪽 메뉴에 있습니다.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508000" y="2984500"/>
            <a:ext cx="254000" cy="2540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000" y="29845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29718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모델 이름 클릭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33274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오른쪽 Run settings 맨 위를 누르면 모델 목록이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000" y="5080000"/>
            <a:ext cx="3556000" cy="1397000"/>
          </a:xfrm>
          <a:prstGeom prst="roundRect">
            <a:avLst>
              <a:gd name="adj" fmla="val 5454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" y="5080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1A1A1A"/>
                </a:solidFill>
                <a:latin typeface="Hanwha R"/>
                <a:ea typeface="Hanwha R"/>
              </a:rPr>
              <a:t>처음 들어가면 소개 화면이 나옵니다. 오른쪽 위 Get started를 누르고 로그인하면 이 화면으로 옵니다.</a:t>
            </a:r>
          </a:p>
        </p:txBody>
      </p:sp>
      <p:pic>
        <p:nvPicPr>
          <p:cNvPr id="20" name="Picture 19" descr="s1_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1905000"/>
            <a:ext cx="7302500" cy="416761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381500" y="1905000"/>
            <a:ext cx="7302500" cy="4167612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4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1단계 · 코드 없이 써 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Gemma 4 모델 고르기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모델 목록에서 Gemma 탭을 누르고 Gemma 4를 고릅니다.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508000" y="2159000"/>
            <a:ext cx="254000" cy="2540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21590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21463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Gemma 탭 클릭</a:t>
            </a:r>
          </a:p>
        </p:txBody>
      </p:sp>
      <p:sp>
        <p:nvSpPr>
          <p:cNvPr id="13" name="Oval 12"/>
          <p:cNvSpPr/>
          <p:nvPr/>
        </p:nvSpPr>
        <p:spPr>
          <a:xfrm>
            <a:off x="508000" y="2730500"/>
            <a:ext cx="254000" cy="2540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27305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178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Gemma 4 26B A4B IT 클릭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30734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가볍고 빠른 모델입니다.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000" y="5080000"/>
            <a:ext cx="3556000" cy="1397000"/>
          </a:xfrm>
          <a:prstGeom prst="roundRect">
            <a:avLst>
              <a:gd name="adj" fmla="val 5454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400" y="5080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1A1A1A"/>
                </a:solidFill>
                <a:latin typeface="Hanwha R"/>
                <a:ea typeface="Hanwha R"/>
              </a:rPr>
              <a:t>더 꼼꼼한 답이 필요하면 바로 아래 Gemma 4 31B IT를 고릅니다.</a:t>
            </a:r>
          </a:p>
        </p:txBody>
      </p:sp>
      <p:pic>
        <p:nvPicPr>
          <p:cNvPr id="19" name="Picture 18" descr="s1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1905000"/>
            <a:ext cx="7302500" cy="416761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81500" y="1905000"/>
            <a:ext cx="7302500" cy="4167612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5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1단계 · 코드 없이 써 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질문하고 답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아래 입력창에 질문을 쓰고 Enter 키를 누릅니다.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508000" y="2159000"/>
            <a:ext cx="254000" cy="2540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21590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21463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내가 보낸 질문</a:t>
            </a:r>
          </a:p>
        </p:txBody>
      </p:sp>
      <p:sp>
        <p:nvSpPr>
          <p:cNvPr id="13" name="Oval 12"/>
          <p:cNvSpPr/>
          <p:nvPr/>
        </p:nvSpPr>
        <p:spPr>
          <a:xfrm>
            <a:off x="508000" y="2730500"/>
            <a:ext cx="254000" cy="2540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27305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17800"/>
            <a:ext cx="3175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Gemma 4의 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3073400"/>
            <a:ext cx="317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Thoughts를 펼치면 모델이 답을 만들며 생각한 과정이 보입니다.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000" y="5080000"/>
            <a:ext cx="3556000" cy="1397000"/>
          </a:xfrm>
          <a:prstGeom prst="roundRect">
            <a:avLst>
              <a:gd name="adj" fmla="val 5454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400" y="50800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1A1A1A"/>
                </a:solidFill>
                <a:latin typeface="Hanwha R"/>
                <a:ea typeface="Hanwha R"/>
              </a:rPr>
              <a:t>처음 실행하면 Google Drive 저장 창이 뜹니다. 기록을 남기지 않으려면 Cancel and use Temporary chat을 누릅니다.</a:t>
            </a:r>
          </a:p>
        </p:txBody>
      </p:sp>
      <p:pic>
        <p:nvPicPr>
          <p:cNvPr id="19" name="Picture 18" descr="s1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1905000"/>
            <a:ext cx="7302500" cy="416761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81500" y="1905000"/>
            <a:ext cx="7302500" cy="4167612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2단계 · API 키 발급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구글 클라우드에서 프로젝트 만들기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API 키는 프로젝트 안에 만들어집니다. console.cloud.google.com/projectcreate에 들어갑니다.</a:t>
            </a:r>
          </a:p>
        </p:txBody>
      </p:sp>
      <p:pic>
        <p:nvPicPr>
          <p:cNvPr id="10" name="Picture 9" descr="p_s2_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46" y="2032000"/>
            <a:ext cx="5224508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246" y="2032000"/>
            <a:ext cx="5224508" cy="2984500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51562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처음 한 번 뜨는 약관 창</a:t>
            </a:r>
          </a:p>
        </p:txBody>
      </p:sp>
      <p:sp>
        <p:nvSpPr>
          <p:cNvPr id="13" name="Oval 12"/>
          <p:cNvSpPr/>
          <p:nvPr/>
        </p:nvSpPr>
        <p:spPr>
          <a:xfrm>
            <a:off x="508000" y="54991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5499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500" y="54800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서비스 약관 동의 체크</a:t>
            </a:r>
          </a:p>
        </p:txBody>
      </p:sp>
      <p:sp>
        <p:nvSpPr>
          <p:cNvPr id="16" name="Oval 15"/>
          <p:cNvSpPr/>
          <p:nvPr/>
        </p:nvSpPr>
        <p:spPr>
          <a:xfrm>
            <a:off x="508000" y="58039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000" y="58039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57848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상업적 목적 항목도 체크해야 버튼이 켜집니다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508000" y="61087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000" y="61087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500" y="60896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동의 및 계속하기</a:t>
            </a:r>
          </a:p>
        </p:txBody>
      </p:sp>
      <p:pic>
        <p:nvPicPr>
          <p:cNvPr id="22" name="Picture 21" descr="p_s2_cpro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6950" y="2032000"/>
            <a:ext cx="5213100" cy="29845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46950" y="2032000"/>
            <a:ext cx="5213100" cy="2984500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3000" y="51562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프로젝트 이름 정하기</a:t>
            </a:r>
          </a:p>
        </p:txBody>
      </p:sp>
      <p:sp>
        <p:nvSpPr>
          <p:cNvPr id="25" name="Oval 24"/>
          <p:cNvSpPr/>
          <p:nvPr/>
        </p:nvSpPr>
        <p:spPr>
          <a:xfrm>
            <a:off x="6223000" y="54991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000" y="5499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0500" y="54800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영문으로 이름 입력 (한글은 오류가 납니다)</a:t>
            </a:r>
          </a:p>
        </p:txBody>
      </p:sp>
      <p:sp>
        <p:nvSpPr>
          <p:cNvPr id="28" name="Oval 27"/>
          <p:cNvSpPr/>
          <p:nvPr/>
        </p:nvSpPr>
        <p:spPr>
          <a:xfrm>
            <a:off x="6223000" y="58039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3000" y="58039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0500" y="57848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만들기 클릭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7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2단계 · API 키 발급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AI Studio로 프로젝트 가져오기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구글 클라우드 콘솔에서 만든 프로젝트를 AI Studio에 연결해야 키를 만들 수 있습니다.</a:t>
            </a:r>
          </a:p>
        </p:txBody>
      </p:sp>
      <p:pic>
        <p:nvPicPr>
          <p:cNvPr id="10" name="Picture 9" descr="p_s2_ke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776" y="2032000"/>
            <a:ext cx="5229449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3776" y="2032000"/>
            <a:ext cx="5229449" cy="2984500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51562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API 키 화면</a:t>
            </a:r>
          </a:p>
        </p:txBody>
      </p:sp>
      <p:sp>
        <p:nvSpPr>
          <p:cNvPr id="13" name="Oval 12"/>
          <p:cNvSpPr/>
          <p:nvPr/>
        </p:nvSpPr>
        <p:spPr>
          <a:xfrm>
            <a:off x="508000" y="54991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5499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500" y="54800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왼쪽 메뉴 API 키</a:t>
            </a:r>
          </a:p>
        </p:txBody>
      </p:sp>
      <p:sp>
        <p:nvSpPr>
          <p:cNvPr id="16" name="Oval 15"/>
          <p:cNvSpPr/>
          <p:nvPr/>
        </p:nvSpPr>
        <p:spPr>
          <a:xfrm>
            <a:off x="508000" y="58039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000" y="58039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57848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API 키 만들기 → 프로젝트 선택 칸 → 프로젝트 가져오기</a:t>
            </a:r>
          </a:p>
        </p:txBody>
      </p:sp>
      <p:pic>
        <p:nvPicPr>
          <p:cNvPr id="19" name="Picture 18" descr="p_s2_im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6950" y="2032000"/>
            <a:ext cx="5213100" cy="29845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46950" y="2032000"/>
            <a:ext cx="5213100" cy="2984500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3000" y="51562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프로젝트 가져오기 창</a:t>
            </a:r>
          </a:p>
        </p:txBody>
      </p:sp>
      <p:sp>
        <p:nvSpPr>
          <p:cNvPr id="22" name="Oval 21"/>
          <p:cNvSpPr/>
          <p:nvPr/>
        </p:nvSpPr>
        <p:spPr>
          <a:xfrm>
            <a:off x="6223000" y="54991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3000" y="5499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0500" y="54800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방금 만든 프로젝트 체크</a:t>
            </a:r>
          </a:p>
        </p:txBody>
      </p:sp>
      <p:sp>
        <p:nvSpPr>
          <p:cNvPr id="25" name="Oval 24"/>
          <p:cNvSpPr/>
          <p:nvPr/>
        </p:nvSpPr>
        <p:spPr>
          <a:xfrm>
            <a:off x="6223000" y="58039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000" y="58039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0500" y="57848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가져오기 클릭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8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2단계 · API 키 발급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키 만들고 복사하기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키는 비밀번호와 같습니다. 메신저나 메일로 보내지 말고, 코드에 직접 넣지도 않습니다.</a:t>
            </a:r>
          </a:p>
        </p:txBody>
      </p:sp>
      <p:pic>
        <p:nvPicPr>
          <p:cNvPr id="10" name="Picture 9" descr="p_s2_keyma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50" y="2032000"/>
            <a:ext cx="52131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1950" y="2032000"/>
            <a:ext cx="5213100" cy="2984500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51562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키 만들기</a:t>
            </a:r>
          </a:p>
        </p:txBody>
      </p:sp>
      <p:sp>
        <p:nvSpPr>
          <p:cNvPr id="13" name="Oval 12"/>
          <p:cNvSpPr/>
          <p:nvPr/>
        </p:nvSpPr>
        <p:spPr>
          <a:xfrm>
            <a:off x="508000" y="54991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5499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500" y="54800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가져온 프로젝트 선택</a:t>
            </a:r>
          </a:p>
        </p:txBody>
      </p:sp>
      <p:sp>
        <p:nvSpPr>
          <p:cNvPr id="16" name="Oval 15"/>
          <p:cNvSpPr/>
          <p:nvPr/>
        </p:nvSpPr>
        <p:spPr>
          <a:xfrm>
            <a:off x="508000" y="58039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8000" y="58039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500" y="57848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키 만들기 클릭</a:t>
            </a:r>
          </a:p>
        </p:txBody>
      </p:sp>
      <p:pic>
        <p:nvPicPr>
          <p:cNvPr id="19" name="Picture 18" descr="p_s2_co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2062" y="2032000"/>
            <a:ext cx="5222875" cy="29845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42062" y="2032000"/>
            <a:ext cx="5222875" cy="2984500"/>
          </a:xfrm>
          <a:prstGeom prst="rect">
            <a:avLst/>
          </a:prstGeom>
          <a:noFill/>
          <a:ln w="1270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3000" y="515620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키 복사</a:t>
            </a:r>
          </a:p>
        </p:txBody>
      </p:sp>
      <p:sp>
        <p:nvSpPr>
          <p:cNvPr id="22" name="Oval 21"/>
          <p:cNvSpPr/>
          <p:nvPr/>
        </p:nvSpPr>
        <p:spPr>
          <a:xfrm>
            <a:off x="6223000" y="5499100"/>
            <a:ext cx="215900" cy="2159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3000" y="5499100"/>
            <a:ext cx="2159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0500" y="5480050"/>
            <a:ext cx="51435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R"/>
                <a:ea typeface="Hanwha R"/>
              </a:rPr>
              <a:t>키 복사를 누르고, 3단계에서 붙여 넣습니다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3단계 · PC 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Python 설치와 키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Python 3.10 이상과 라이브러리를 설치하고, 키를 환경변수에 저장합니다.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508000" y="2159000"/>
            <a:ext cx="279400" cy="279400"/>
          </a:xfrm>
          <a:prstGeom prst="ellipse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21590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>
                <a:solidFill>
                  <a:srgbClr val="FFFFFF"/>
                </a:solidFill>
                <a:latin typeface="Hanwha B"/>
                <a:ea typeface="Hanwha B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59000"/>
            <a:ext cx="508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1A1A1A"/>
                </a:solidFill>
                <a:latin typeface="Hanwha B"/>
                <a:ea typeface="Hanwha B"/>
              </a:rPr>
              <a:t>라이브러리 설치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540000"/>
            <a:ext cx="10769600" cy="69850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2200" y="2692400"/>
            <a:ext cx="104140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>
                <a:solidFill>
                  <a:srgbClr val="F2F2F2"/>
                </a:solidFill>
                <a:latin typeface="Consolas"/>
                <a:ea typeface="맑은 고딕"/>
              </a:rPr>
              <a:t>python --version          # 3.10 이상인지 확인
pip install google-genai</a:t>
            </a:r>
          </a:p>
        </p:txBody>
      </p:sp>
      <p:sp>
        <p:nvSpPr>
          <p:cNvPr id="15" name="Oval 14"/>
          <p:cNvSpPr/>
          <p:nvPr/>
        </p:nvSpPr>
        <p:spPr>
          <a:xfrm>
            <a:off x="508000" y="3492500"/>
            <a:ext cx="279400" cy="279400"/>
          </a:xfrm>
          <a:prstGeom prst="ellipse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000" y="3492500"/>
            <a:ext cx="279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>
                <a:solidFill>
                  <a:srgbClr val="FFFFFF"/>
                </a:solidFill>
                <a:latin typeface="Hanwha B"/>
                <a:ea typeface="Hanwha B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925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1A1A1A"/>
                </a:solidFill>
                <a:latin typeface="Hanwha B"/>
                <a:ea typeface="Hanwha B"/>
              </a:rPr>
              <a:t>키를 환경변수 GEMINI_API_KEY에 저장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100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B"/>
                <a:ea typeface="Hanwha B"/>
              </a:rPr>
              <a:t>Windows (명령 프롬프트)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159250"/>
            <a:ext cx="4445000" cy="69850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2200" y="4311650"/>
            <a:ext cx="40894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>
                <a:solidFill>
                  <a:srgbClr val="F2F2F2"/>
                </a:solidFill>
                <a:latin typeface="Consolas"/>
                <a:ea typeface="맑은 고딕"/>
              </a:rPr>
              <a:t>setx GEMINI_API_KEY "복사한키"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8000" y="3810000"/>
            <a:ext cx="609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4A4A4A"/>
                </a:solidFill>
                <a:latin typeface="Hanwha B"/>
                <a:ea typeface="Hanwha B"/>
              </a:rPr>
              <a:t>Mac (터미널)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8000" y="4159250"/>
            <a:ext cx="6096000" cy="698500"/>
          </a:xfrm>
          <a:prstGeom prst="roundRect">
            <a:avLst>
              <a:gd name="adj" fmla="val 10909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800" y="4311650"/>
            <a:ext cx="5740400" cy="39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5">
                <a:solidFill>
                  <a:srgbClr val="F2F2F2"/>
                </a:solidFill>
                <a:latin typeface="Consolas"/>
                <a:ea typeface="맑은 고딕"/>
              </a:rPr>
              <a:t>echo 'export GEMINI_API_KEY="복사한키"' &gt;&gt; ~/.zshrc
source ~/.zshrc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8000" y="5461000"/>
            <a:ext cx="11176000" cy="825500"/>
          </a:xfrm>
          <a:prstGeom prst="roundRect">
            <a:avLst>
              <a:gd name="adj" fmla="val 9230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200" y="5461000"/>
            <a:ext cx="107696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Hanwha R"/>
                <a:ea typeface="Hanwha R"/>
              </a:rPr>
              <a:t>Windows는 setx를 실행한 뒤 명령 프롬프트 창을 닫고 새로 열어야 키가 적용됩니다.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10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4단계 · 첫 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코드로 Gemma 4 부르기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아래 내용을 hello.py로 저장하고, python hello.py로 실행합니다.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2032000"/>
            <a:ext cx="6604000" cy="3048000"/>
          </a:xfrm>
          <a:prstGeom prst="roundRect">
            <a:avLst>
              <a:gd name="adj" fmla="val 25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84400"/>
            <a:ext cx="6248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25">
                <a:solidFill>
                  <a:srgbClr val="F2F2F2"/>
                </a:solidFill>
                <a:latin typeface="Consolas"/>
                <a:ea typeface="맑은 고딕"/>
              </a:rPr>
              <a:t>from google import genai
client = genai.Client()  # 환경변수의 키를 자동으로 읽음
response = client.models.generate_content(
    model="gemma-4-26b-a4b-it",
    contents="점심 메뉴 3가지만 추천해줘",
)
print(response.text)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6000" y="2032000"/>
            <a:ext cx="4318000" cy="914400"/>
          </a:xfrm>
          <a:prstGeom prst="roundRect">
            <a:avLst>
              <a:gd name="adj" fmla="val 8333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9200" y="2197100"/>
            <a:ext cx="393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D85A0E"/>
                </a:solidFill>
                <a:latin typeface="Consolas"/>
                <a:ea typeface="Consolas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9200" y="2527300"/>
            <a:ext cx="393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R"/>
                <a:ea typeface="Hanwha R"/>
              </a:rPr>
              <a:t>어떤 모델에게 물을지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6000" y="3098800"/>
            <a:ext cx="4318000" cy="914400"/>
          </a:xfrm>
          <a:prstGeom prst="roundRect">
            <a:avLst>
              <a:gd name="adj" fmla="val 8333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69200" y="3263900"/>
            <a:ext cx="393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D85A0E"/>
                </a:solidFill>
                <a:latin typeface="Consolas"/>
                <a:ea typeface="Consolas"/>
              </a:rPr>
              <a:t>contents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9200" y="3594100"/>
            <a:ext cx="393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R"/>
                <a:ea typeface="Hanwha R"/>
              </a:rPr>
              <a:t>보낼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6000" y="4165600"/>
            <a:ext cx="4318000" cy="914400"/>
          </a:xfrm>
          <a:prstGeom prst="roundRect">
            <a:avLst>
              <a:gd name="adj" fmla="val 8333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9200" y="4330700"/>
            <a:ext cx="393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>
                <a:solidFill>
                  <a:srgbClr val="D85A0E"/>
                </a:solidFill>
                <a:latin typeface="Consolas"/>
                <a:ea typeface="Consolas"/>
              </a:rPr>
              <a:t>response.text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4660900"/>
            <a:ext cx="3937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R"/>
                <a:ea typeface="Hanwha R"/>
              </a:rPr>
              <a:t>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000" y="5461000"/>
            <a:ext cx="11176000" cy="825500"/>
          </a:xfrm>
          <a:prstGeom prst="roundRect">
            <a:avLst>
              <a:gd name="adj" fmla="val 9230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200" y="5461000"/>
            <a:ext cx="107696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Hanwha R"/>
                <a:ea typeface="Hanwha R"/>
              </a:rPr>
              <a:t>답이 화면에 출력되면 성공입니다. 오류가 나면 12쪽을 보세요.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11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더 써 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역할 정하기와 대화 이어가기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client = genai.Client() 다음에 이어서 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06375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역할과 말투 정하기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000" y="2444750"/>
            <a:ext cx="5461000" cy="2794000"/>
          </a:xfrm>
          <a:prstGeom prst="roundRect">
            <a:avLst>
              <a:gd name="adj" fmla="val 2727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97150"/>
            <a:ext cx="5105400" cy="248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F2F2F2"/>
                </a:solidFill>
                <a:latin typeface="Consolas"/>
                <a:ea typeface="맑은 고딕"/>
              </a:rPr>
              <a:t>from google.genai import types
config = types.GenerateContentConfig(
    system_instruction="인사팀 담당자처럼 5문장 이내로 답해",
)
response = client.models.generate_content(
    model="gemma-4-26b-a4b-it",
    contents="신입 사원 환영 메일 써줘",
    config=config,
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0" y="2063750"/>
            <a:ext cx="5461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1A1A1A"/>
                </a:solidFill>
                <a:latin typeface="Hanwha B"/>
                <a:ea typeface="Hanwha B"/>
              </a:rPr>
              <a:t>대화 이어가기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000" y="2444750"/>
            <a:ext cx="5461000" cy="2794000"/>
          </a:xfrm>
          <a:prstGeom prst="roundRect">
            <a:avLst>
              <a:gd name="adj" fmla="val 2727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97150"/>
            <a:ext cx="5105400" cy="248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F2F2F2"/>
                </a:solidFill>
                <a:latin typeface="Consolas"/>
                <a:ea typeface="맑은 고딕"/>
              </a:rPr>
              <a:t>chat = client.chats.create(model="gemma-4-26b-a4b-it")
r1 = chat.send_message("제주도 여행지 3곳 추천해줘")
print(r1.text)
r2 = chat.send_message("그중 비 오는 날 갈 곳은?")
print(r2.text)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000" y="5461000"/>
            <a:ext cx="11176000" cy="825500"/>
          </a:xfrm>
          <a:prstGeom prst="roundRect">
            <a:avLst>
              <a:gd name="adj" fmla="val 9230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200" y="5461000"/>
            <a:ext cx="107696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Hanwha R"/>
                <a:ea typeface="Hanwha R"/>
              </a:rPr>
              <a:t>system_instruction은 모델의 역할과 말투를 정합니다. chat은 앞의 대화를 기억해서 "그중"이 무엇인지 압니다.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12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문제 해결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>
                <a:solidFill>
                  <a:srgbClr val="1A1A1A"/>
                </a:solidFill>
                <a:latin typeface="Hanwha B"/>
                <a:ea typeface="Hanwha B"/>
              </a:rPr>
              <a:t>오류가 나면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543050"/>
            <a:ext cx="1117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4A4A4A"/>
                </a:solidFill>
                <a:latin typeface="Hanwha R"/>
                <a:ea typeface="Hanwha R"/>
              </a:rPr>
              <a:t>메시지를 보고 아래 표에서 찾으세요.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8000" y="2032000"/>
          <a:ext cx="11176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2032000"/>
                <a:gridCol w="5588000"/>
              </a:tblGrid>
              <a:tr h="5080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Hanwha B"/>
                          <a:ea typeface="Hanwha B"/>
                        </a:rPr>
                        <a:t>오류 메시지</a:t>
                      </a:r>
                    </a:p>
                  </a:txBody>
                  <a:tcPr anchor="ctr" marL="152400">
                    <a:solidFill>
                      <a:srgbClr val="FCE6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Hanwha B"/>
                          <a:ea typeface="Hanwha B"/>
                        </a:rPr>
                        <a:t>뜻</a:t>
                      </a:r>
                    </a:p>
                  </a:txBody>
                  <a:tcPr anchor="ctr" marL="152400">
                    <a:solidFill>
                      <a:srgbClr val="FCE6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Hanwha B"/>
                          <a:ea typeface="Hanwha B"/>
                        </a:rPr>
                        <a:t>해결</a:t>
                      </a:r>
                    </a:p>
                  </a:txBody>
                  <a:tcPr anchor="ctr" marL="152400">
                    <a:solidFill>
                      <a:srgbClr val="FCE6D6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A1A1A"/>
                          </a:solidFill>
                          <a:latin typeface="Consolas"/>
                          <a:ea typeface="맑은 고딕"/>
                        </a:rPr>
                        <a:t>No API key was provided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키를 못 찾음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3단계 환경변수 설정 확인, 터미널 새로 열기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A1A1A"/>
                          </a:solidFill>
                          <a:latin typeface="Consolas"/>
                          <a:ea typeface="맑은 고딕"/>
                        </a:rPr>
                        <a:t>400  API key not valid</a:t>
                      </a:r>
                    </a:p>
                  </a:txBody>
                  <a:tcPr anchor="ctr" marL="152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키가 틀림</a:t>
                      </a:r>
                    </a:p>
                  </a:txBody>
                  <a:tcPr anchor="ctr" marL="152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키를 다시 복사해 저장</a:t>
                      </a:r>
                    </a:p>
                  </a:txBody>
                  <a:tcPr anchor="ctr" marL="152400">
                    <a:solidFill>
                      <a:srgbClr val="F5F5F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A1A1A"/>
                          </a:solidFill>
                          <a:latin typeface="Consolas"/>
                          <a:ea typeface="맑은 고딕"/>
                        </a:rPr>
                        <a:t>403  PERMISSION_DENIED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프로젝트가 막힘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AI Studio 프로젝트 화면 상태가 ‘제한됨’이면 결제 연결 필요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A1A1A"/>
                          </a:solidFill>
                          <a:latin typeface="Consolas"/>
                          <a:ea typeface="맑은 고딕"/>
                        </a:rPr>
                        <a:t>429  RESOURCE_EXHAUSTED</a:t>
                      </a:r>
                    </a:p>
                  </a:txBody>
                  <a:tcPr anchor="ctr" marL="152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사용량 한도 초과</a:t>
                      </a:r>
                    </a:p>
                  </a:txBody>
                  <a:tcPr anchor="ctr" marL="1524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1분쯤 뒤 재시도, 하루 한도를 넘었으면 다음 날</a:t>
                      </a:r>
                    </a:p>
                  </a:txBody>
                  <a:tcPr anchor="ctr" marL="152400">
                    <a:solidFill>
                      <a:srgbClr val="F5F5F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A1A1A"/>
                          </a:solidFill>
                          <a:latin typeface="Consolas"/>
                          <a:ea typeface="맑은 고딕"/>
                        </a:rPr>
                        <a:t>500 · 503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구글 서버 일시 문제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4A4A4A"/>
                          </a:solidFill>
                          <a:latin typeface="Hanwha R"/>
                          <a:ea typeface="Hanwha R"/>
                        </a:rPr>
                        <a:t>잠시 뒤 다시 시도</a:t>
                      </a:r>
                    </a:p>
                  </a:txBody>
                  <a:tcPr anchor="ctr" marL="152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8000" y="5461000"/>
            <a:ext cx="11176000" cy="825500"/>
          </a:xfrm>
          <a:prstGeom prst="roundRect">
            <a:avLst>
              <a:gd name="adj" fmla="val 9230"/>
            </a:avLst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200" y="5461000"/>
            <a:ext cx="107696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Hanwha R"/>
                <a:ea typeface="Hanwha R"/>
              </a:rPr>
              <a:t>그래도 안 되면 오류 메시지 전체를 복사해 담당자에게 보내 주세요. API 키는 빼고 보냅니다.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0"/>
          </a:xfrm>
          <a:prstGeom prst="rect">
            <a:avLst/>
          </a:prstGeom>
          <a:solidFill>
            <a:srgbClr val="FCE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5300"/>
            <a:ext cx="12192000" cy="12700"/>
          </a:xfrm>
          <a:prstGeom prst="rect">
            <a:avLst/>
          </a:prstGeom>
          <a:solidFill>
            <a:srgbClr val="ED6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4000" y="0"/>
            <a:ext cx="508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>
                <a:solidFill>
                  <a:srgbClr val="4A4A4A"/>
                </a:solidFill>
                <a:latin typeface="Hanwha R"/>
                <a:ea typeface="Hanwha R"/>
              </a:rPr>
              <a:t>Gemma 4 API 초보자 가이드</a:t>
            </a:r>
          </a:p>
        </p:txBody>
      </p:sp>
      <p:pic>
        <p:nvPicPr>
          <p:cNvPr id="5" name="Picture 4" descr="hanwha-signature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0" y="50800"/>
            <a:ext cx="812800" cy="40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68000" y="6604000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75">
                <a:solidFill>
                  <a:srgbClr val="9A9A9A"/>
                </a:solidFill>
                <a:latin typeface="Hanwha R"/>
                <a:ea typeface="Hanwha R"/>
              </a:rPr>
              <a:t>13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25500"/>
            <a:ext cx="1117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ED6F1F"/>
                </a:solidFill>
                <a:latin typeface="Hanwha B"/>
                <a:ea typeface="Hanwha B"/>
              </a:rPr>
              <a:t>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047750"/>
            <a:ext cx="111760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>
                <a:solidFill>
                  <a:srgbClr val="ED6F1F"/>
                </a:solidFill>
                <a:latin typeface="Hanwha B"/>
                <a:ea typeface="Hanwha B"/>
              </a:rPr>
              <a:t>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095500"/>
            <a:ext cx="11176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950">
                <a:solidFill>
                  <a:srgbClr val="1A1A1A"/>
                </a:solidFill>
                <a:latin typeface="Hanwha R"/>
                <a:ea typeface="Hanwha R"/>
              </a:rPr>
              <a:t>AI Studio에서 먼저 써 보고, 필요할 때 API 키를 발급합니다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950">
                <a:solidFill>
                  <a:srgbClr val="1A1A1A"/>
                </a:solidFill>
                <a:latin typeface="Hanwha R"/>
                <a:ea typeface="Hanwha R"/>
              </a:rPr>
              <a:t>키는 환경변수에 두고 코드에는 넣지 않습니다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950">
                <a:solidFill>
                  <a:srgbClr val="1A1A1A"/>
                </a:solidFill>
                <a:latin typeface="Hanwha R"/>
                <a:ea typeface="Hanwha R"/>
              </a:rPr>
              <a:t>무료지만 한도가 있고, 입력 내용이 구글 제품 개선에 쓰일 수 있습니다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000" y="4318000"/>
            <a:ext cx="11176000" cy="2095500"/>
          </a:xfrm>
          <a:prstGeom prst="roundRect">
            <a:avLst>
              <a:gd name="adj" fmla="val 424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454025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>
                <a:solidFill>
                  <a:srgbClr val="D85A0E"/>
                </a:solidFill>
                <a:latin typeface="Hanwha B"/>
                <a:ea typeface="Hanwha B"/>
              </a:rPr>
              <a:t>참고 링크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92125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B"/>
                <a:ea typeface="Hanwha B"/>
              </a:rPr>
              <a:t>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4000" y="4921250"/>
            <a:ext cx="825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Consolas"/>
                <a:ea typeface="맑은 고딕"/>
              </a:rPr>
              <a:t>aistudio.google.com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26415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B"/>
                <a:ea typeface="Hanwha B"/>
              </a:rPr>
              <a:t>API 키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4000" y="5264150"/>
            <a:ext cx="825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Consolas"/>
                <a:ea typeface="맑은 고딕"/>
              </a:rPr>
              <a:t>ai.google.dev/gemini-api/docs/api-key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60705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B"/>
                <a:ea typeface="Hanwha B"/>
              </a:rPr>
              <a:t>요금·무료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4000" y="5607050"/>
            <a:ext cx="825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Consolas"/>
                <a:ea typeface="맑은 고딕"/>
              </a:rPr>
              <a:t>ai.google.dev/gemini-api/docs/pricing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594995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4A4A4A"/>
                </a:solidFill>
                <a:latin typeface="Hanwha B"/>
                <a:ea typeface="Hanwha B"/>
              </a:rPr>
              <a:t>사용량 한도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4000" y="5949950"/>
            <a:ext cx="825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A1A1A"/>
                </a:solidFill>
                <a:latin typeface="Consolas"/>
                <a:ea typeface="맑은 고딕"/>
              </a:rPr>
              <a:t>ai.google.dev/gemini-api/docs/rate-limits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
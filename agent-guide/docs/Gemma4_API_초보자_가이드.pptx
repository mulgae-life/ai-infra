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 type="screen4x3"/>
  <p:notesSz cx="6858000" cy="9144000"/>
  <p:embeddedFontLst>
    <p:embeddedFont>
      <p:font typeface="Hanwha R"/>
      <p:regular r:id="rId1001"/>
    </p:embeddedFont>
    <p:embeddedFont>
      <p:font typeface="Hanwha B"/>
      <p:regular r:id="rId1002"/>
    </p:embeddedFont>
    <p:embeddedFont>
      <p:font typeface="Hanwha L"/>
      <p:regular r:id="rId100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1001" Type="http://schemas.openxmlformats.org/officeDocument/2006/relationships/font" Target="fonts/font1.fntdata"/><Relationship Id="rId1002" Type="http://schemas.openxmlformats.org/officeDocument/2006/relationships/font" Target="fonts/font2.fntdata"/><Relationship Id="rId1003" Type="http://schemas.openxmlformats.org/officeDocument/2006/relationships/font" Target="fonts/font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8000"/>
          </a:xfrm>
          <a:prstGeom prst="rect">
            <a:avLst/>
          </a:prstGeom>
          <a:solidFill>
            <a:srgbClr val="FC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5300"/>
            <a:ext cx="12192000" cy="12700"/>
          </a:xfrm>
          <a:prstGeom prst="rect">
            <a:avLst/>
          </a:prstGeom>
          <a:solidFill>
            <a:srgbClr val="ED6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4000" y="0"/>
            <a:ext cx="5080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>
                <a:solidFill>
                  <a:srgbClr val="4A4A4A"/>
                </a:solidFill>
                <a:latin typeface="Hanwha R"/>
                <a:ea typeface="Hanwha R"/>
              </a:rPr>
              <a:t>Gemma 4 API 초보자 가이드</a:t>
            </a:r>
          </a:p>
        </p:txBody>
      </p:sp>
      <p:pic>
        <p:nvPicPr>
          <p:cNvPr id="5" name="Picture 4" descr="hanwha-signature-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5200" y="50800"/>
            <a:ext cx="812800" cy="406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68000" y="6604000"/>
            <a:ext cx="127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75">
                <a:solidFill>
                  <a:srgbClr val="9A9A9A"/>
                </a:solidFill>
                <a:latin typeface="Hanwha R"/>
                <a:ea typeface="Hanwha R"/>
              </a:rPr>
              <a:t>1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1587500"/>
            <a:ext cx="508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>
                <a:solidFill>
                  <a:srgbClr val="ED6F1F"/>
                </a:solidFill>
                <a:latin typeface="Hanwha B"/>
                <a:ea typeface="Hanwha B"/>
              </a:rPr>
              <a:t>초보자용 가이드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1905000"/>
            <a:ext cx="5461000" cy="146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>
                <a:solidFill>
                  <a:srgbClr val="1A1A1A"/>
                </a:solidFill>
                <a:latin typeface="Hanwha B"/>
                <a:ea typeface="Hanwha B"/>
              </a:rPr>
              <a:t>Gemma 4 API</a:t>
            </a:r>
          </a:p>
          <a:p>
            <a:pPr algn="l">
              <a:lnSpc>
                <a:spcPct val="110000"/>
              </a:lnSpc>
            </a:pPr>
            <a:r>
              <a:rPr sz="4200">
                <a:solidFill>
                  <a:srgbClr val="1A1A1A"/>
                </a:solidFill>
                <a:latin typeface="Hanwha B"/>
                <a:ea typeface="Hanwha B"/>
              </a:rPr>
              <a:t>시작하기</a:t>
            </a:r>
          </a:p>
        </p:txBody>
      </p:sp>
      <p:sp>
        <p:nvSpPr>
          <p:cNvPr id="9" name="Rectangle 8"/>
          <p:cNvSpPr/>
          <p:nvPr/>
        </p:nvSpPr>
        <p:spPr>
          <a:xfrm>
            <a:off x="508000" y="3460750"/>
            <a:ext cx="5080000" cy="127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8000" y="3683000"/>
            <a:ext cx="5207000" cy="266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350">
                <a:solidFill>
                  <a:srgbClr val="4A4A4A"/>
                </a:solidFill>
                <a:latin typeface="Hanwha R"/>
                <a:ea typeface="Hanwha R"/>
              </a:rPr>
              <a:t>구글 AI Studio에서 Gemma 4를 무료로 쓰는 방법을</a:t>
            </a:r>
          </a:p>
          <a:p>
            <a:pPr algn="l">
              <a:lnSpc>
                <a:spcPct val="160000"/>
              </a:lnSpc>
              <a:spcAft>
                <a:spcPts val="750"/>
              </a:spcAft>
            </a:pPr>
            <a:r>
              <a:rPr sz="1350">
                <a:solidFill>
                  <a:srgbClr val="4A4A4A"/>
                </a:solidFill>
                <a:latin typeface="Hanwha R"/>
                <a:ea typeface="Hanwha R"/>
              </a:rPr>
              <a:t>화면 순서대로 따라 할 수 있게 정리했습니다.</a:t>
            </a:r>
          </a:p>
          <a:p>
            <a:pPr algn="l">
              <a:lnSpc>
                <a:spcPct val="160000"/>
              </a:lnSpc>
            </a:pPr>
            <a:r>
              <a:rPr sz="1350">
                <a:solidFill>
                  <a:srgbClr val="D85A0E"/>
                </a:solidFill>
                <a:latin typeface="Hanwha B"/>
                <a:ea typeface="Hanwha B"/>
              </a:rPr>
              <a:t>코드 없이 써 보기 → API 키 발급 → PC 준비 → 첫 호출</a:t>
            </a:r>
          </a:p>
          <a:p>
            <a:pPr algn="l">
              <a:lnSpc>
                <a:spcPct val="240000"/>
              </a:lnSpc>
            </a:pPr>
            <a:r>
              <a:rPr sz="1200">
                <a:solidFill>
                  <a:srgbClr val="9A9A9A"/>
                </a:solidFill>
                <a:latin typeface="Hanwha R"/>
                <a:ea typeface="Hanwha R"/>
              </a:rPr>
              <a:t>2026. 10</a:t>
            </a:r>
          </a:p>
        </p:txBody>
      </p:sp>
      <p:pic>
        <p:nvPicPr>
          <p:cNvPr id="11" name="Picture 10" descr="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016000"/>
            <a:ext cx="5588000" cy="474354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096000" y="1016000"/>
            <a:ext cx="5588000" cy="4743545"/>
          </a:xfrm>
          <a:prstGeom prst="rect">
            <a:avLst/>
          </a:prstGeom>
          <a:noFill/>
          <a:ln w="1270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8000"/>
          </a:xfrm>
          <a:prstGeom prst="rect">
            <a:avLst/>
          </a:prstGeom>
          <a:solidFill>
            <a:srgbClr val="FC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5300"/>
            <a:ext cx="12192000" cy="12700"/>
          </a:xfrm>
          <a:prstGeom prst="rect">
            <a:avLst/>
          </a:prstGeom>
          <a:solidFill>
            <a:srgbClr val="ED6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4000" y="0"/>
            <a:ext cx="5080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>
                <a:solidFill>
                  <a:srgbClr val="4A4A4A"/>
                </a:solidFill>
                <a:latin typeface="Hanwha R"/>
                <a:ea typeface="Hanwha R"/>
              </a:rPr>
              <a:t>Gemma 4 API 초보자 가이드</a:t>
            </a:r>
          </a:p>
        </p:txBody>
      </p:sp>
      <p:pic>
        <p:nvPicPr>
          <p:cNvPr id="5" name="Picture 4" descr="hanwha-signature-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5200" y="50800"/>
            <a:ext cx="812800" cy="406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68000" y="6604000"/>
            <a:ext cx="127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75">
                <a:solidFill>
                  <a:srgbClr val="9A9A9A"/>
                </a:solidFill>
                <a:latin typeface="Hanwha R"/>
                <a:ea typeface="Hanwha R"/>
              </a:rPr>
              <a:t>2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825500"/>
            <a:ext cx="11176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ED6F1F"/>
                </a:solidFill>
                <a:latin typeface="Hanwha B"/>
                <a:ea typeface="Hanwha B"/>
              </a:rPr>
              <a:t>시작하기 전에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1047750"/>
            <a:ext cx="11176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>
                <a:solidFill>
                  <a:srgbClr val="1A1A1A"/>
                </a:solidFill>
                <a:latin typeface="Hanwha B"/>
                <a:ea typeface="Hanwha B"/>
              </a:rPr>
              <a:t>Gemma 4란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1543050"/>
            <a:ext cx="11176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>
                <a:solidFill>
                  <a:srgbClr val="4A4A4A"/>
                </a:solidFill>
                <a:latin typeface="Hanwha R"/>
                <a:ea typeface="Hanwha R"/>
              </a:rPr>
              <a:t>구글이 공개한 AI 모델입니다. 구글 서버에 무료로 요청해 쓸 수 있습니다.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" y="2286000"/>
            <a:ext cx="4826000" cy="2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1050"/>
              </a:spcAft>
            </a:pPr>
            <a:r>
              <a:rPr sz="1800">
                <a:solidFill>
                  <a:srgbClr val="1A1A1A"/>
                </a:solidFill>
                <a:latin typeface="Hanwha R"/>
                <a:ea typeface="Hanwha R"/>
              </a:rPr>
              <a:t>글을 쓰고, 요약하고, 질문에 답합니다</a:t>
            </a:r>
          </a:p>
          <a:p>
            <a:pPr algn="l">
              <a:lnSpc>
                <a:spcPct val="140000"/>
              </a:lnSpc>
              <a:spcAft>
                <a:spcPts val="1050"/>
              </a:spcAft>
            </a:pPr>
            <a:r>
              <a:rPr sz="1800">
                <a:solidFill>
                  <a:srgbClr val="1A1A1A"/>
                </a:solidFill>
                <a:latin typeface="Hanwha R"/>
                <a:ea typeface="Hanwha R"/>
              </a:rPr>
              <a:t>사진·그래프 같은 이미지도 이해합니다</a:t>
            </a:r>
          </a:p>
          <a:p>
            <a:pPr algn="l">
              <a:lnSpc>
                <a:spcPct val="140000"/>
              </a:lnSpc>
              <a:spcAft>
                <a:spcPts val="1050"/>
              </a:spcAft>
            </a:pPr>
            <a:r>
              <a:rPr sz="1800">
                <a:solidFill>
                  <a:srgbClr val="1A1A1A"/>
                </a:solidFill>
                <a:latin typeface="Hanwha R"/>
                <a:ea typeface="Hanwha R"/>
              </a:rPr>
              <a:t>한국어로 묻고 답할 수 있습니다</a:t>
            </a:r>
          </a:p>
          <a:p>
            <a:pPr algn="l">
              <a:lnSpc>
                <a:spcPct val="140000"/>
              </a:lnSpc>
            </a:pPr>
            <a:r>
              <a:rPr sz="1800">
                <a:solidFill>
                  <a:srgbClr val="1A1A1A"/>
                </a:solidFill>
                <a:latin typeface="Hanwha R"/>
                <a:ea typeface="Hanwha R"/>
              </a:rPr>
              <a:t>구글 계정만 있으면 무료로 시작합니다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3000" y="2095500"/>
            <a:ext cx="5461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>
                <a:solidFill>
                  <a:srgbClr val="4A4A4A"/>
                </a:solidFill>
                <a:latin typeface="Hanwha B"/>
                <a:ea typeface="Hanwha B"/>
              </a:rPr>
              <a:t>쓸 수 있는 모델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3000" y="2381250"/>
            <a:ext cx="5461000" cy="1206500"/>
          </a:xfrm>
          <a:prstGeom prst="roundRect">
            <a:avLst>
              <a:gd name="adj" fmla="val 6315"/>
            </a:avLst>
          </a:prstGeom>
          <a:solidFill>
            <a:srgbClr val="FC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6200" y="2540000"/>
            <a:ext cx="508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>
                <a:solidFill>
                  <a:srgbClr val="1A1A1A"/>
                </a:solidFill>
                <a:latin typeface="Consolas"/>
                <a:ea typeface="Consolas"/>
              </a:rPr>
              <a:t>gemma-4-26b-a4b-it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6200" y="2952750"/>
            <a:ext cx="5080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4A4A4A"/>
                </a:solidFill>
                <a:latin typeface="Hanwha R"/>
                <a:ea typeface="Hanwha R"/>
              </a:rPr>
              <a:t>가볍고 빠릅니다. 처음엔 이 모델로 시작하세요.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3000" y="3714750"/>
            <a:ext cx="5461000" cy="1206500"/>
          </a:xfrm>
          <a:prstGeom prst="roundRect">
            <a:avLst>
              <a:gd name="adj" fmla="val 6315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6200" y="3873500"/>
            <a:ext cx="508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>
                <a:solidFill>
                  <a:srgbClr val="1A1A1A"/>
                </a:solidFill>
                <a:latin typeface="Consolas"/>
                <a:ea typeface="Consolas"/>
              </a:rPr>
              <a:t>gemma-4-31b-it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4286250"/>
            <a:ext cx="5080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4A4A4A"/>
                </a:solidFill>
                <a:latin typeface="Hanwha R"/>
                <a:ea typeface="Hanwha R"/>
              </a:rPr>
              <a:t>더 크고 꼼꼼합니다. 답이 조금 느립니다.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8000" y="5270500"/>
            <a:ext cx="3556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300">
                <a:solidFill>
                  <a:srgbClr val="ED6F1F"/>
                </a:solidFill>
                <a:latin typeface="Hanwha B"/>
                <a:ea typeface="Hanwha B"/>
              </a:rPr>
              <a:t>0원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8000" y="5969000"/>
            <a:ext cx="3556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75">
                <a:solidFill>
                  <a:srgbClr val="4A4A4A"/>
                </a:solidFill>
                <a:latin typeface="Hanwha L"/>
                <a:ea typeface="Hanwha L"/>
              </a:rPr>
              <a:t>이용료 (무료 등급)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35450" y="5270500"/>
            <a:ext cx="3556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300">
                <a:solidFill>
                  <a:srgbClr val="ED6F1F"/>
                </a:solidFill>
                <a:latin typeface="Hanwha B"/>
                <a:ea typeface="Hanwha B"/>
              </a:rPr>
              <a:t>2종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35450" y="5969000"/>
            <a:ext cx="3556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75">
                <a:solidFill>
                  <a:srgbClr val="4A4A4A"/>
                </a:solidFill>
                <a:latin typeface="Hanwha L"/>
                <a:ea typeface="Hanwha L"/>
              </a:rPr>
              <a:t>API로 쓸 수 있는 모델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62900" y="5270500"/>
            <a:ext cx="3556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300">
                <a:solidFill>
                  <a:srgbClr val="ED6F1F"/>
                </a:solidFill>
                <a:latin typeface="Hanwha B"/>
                <a:ea typeface="Hanwha B"/>
              </a:rPr>
              <a:t>4단계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62900" y="5969000"/>
            <a:ext cx="3556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75">
                <a:solidFill>
                  <a:srgbClr val="4A4A4A"/>
                </a:solidFill>
                <a:latin typeface="Hanwha L"/>
                <a:ea typeface="Hanwha L"/>
              </a:rPr>
              <a:t>첫 호출까지 걸리는 단계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8000"/>
          </a:xfrm>
          <a:prstGeom prst="rect">
            <a:avLst/>
          </a:prstGeom>
          <a:solidFill>
            <a:srgbClr val="FC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5300"/>
            <a:ext cx="12192000" cy="12700"/>
          </a:xfrm>
          <a:prstGeom prst="rect">
            <a:avLst/>
          </a:prstGeom>
          <a:solidFill>
            <a:srgbClr val="ED6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4000" y="0"/>
            <a:ext cx="5080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>
                <a:solidFill>
                  <a:srgbClr val="4A4A4A"/>
                </a:solidFill>
                <a:latin typeface="Hanwha R"/>
                <a:ea typeface="Hanwha R"/>
              </a:rPr>
              <a:t>Gemma 4 API 초보자 가이드</a:t>
            </a:r>
          </a:p>
        </p:txBody>
      </p:sp>
      <p:pic>
        <p:nvPicPr>
          <p:cNvPr id="5" name="Picture 4" descr="hanwha-signature-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5200" y="50800"/>
            <a:ext cx="812800" cy="406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68000" y="6604000"/>
            <a:ext cx="127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75">
                <a:solidFill>
                  <a:srgbClr val="9A9A9A"/>
                </a:solidFill>
                <a:latin typeface="Hanwha R"/>
                <a:ea typeface="Hanwha R"/>
              </a:rPr>
              <a:t>3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825500"/>
            <a:ext cx="11176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ED6F1F"/>
                </a:solidFill>
                <a:latin typeface="Hanwha B"/>
                <a:ea typeface="Hanwha B"/>
              </a:rPr>
              <a:t>시작하기 전에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1047750"/>
            <a:ext cx="11176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>
                <a:solidFill>
                  <a:srgbClr val="1A1A1A"/>
                </a:solidFill>
                <a:latin typeface="Hanwha B"/>
                <a:ea typeface="Hanwha B"/>
              </a:rPr>
              <a:t>시작 전에 꼭 알아둘 3가지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000" y="1905000"/>
            <a:ext cx="3594100" cy="3302000"/>
          </a:xfrm>
          <a:prstGeom prst="roundRect">
            <a:avLst>
              <a:gd name="adj" fmla="val 2692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2159000"/>
            <a:ext cx="30861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500">
                <a:solidFill>
                  <a:srgbClr val="1A1A1A"/>
                </a:solidFill>
                <a:latin typeface="Hanwha B"/>
                <a:ea typeface="Hanwha B"/>
              </a:rPr>
              <a:t>0원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3016250"/>
            <a:ext cx="30861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950">
                <a:solidFill>
                  <a:srgbClr val="1A1A1A"/>
                </a:solidFill>
                <a:latin typeface="Hanwha B"/>
                <a:ea typeface="Hanwha B"/>
              </a:rPr>
              <a:t>무료입니다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3492500"/>
            <a:ext cx="3086100" cy="158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>
                <a:solidFill>
                  <a:srgbClr val="4A4A4A"/>
                </a:solidFill>
                <a:latin typeface="Hanwha R"/>
                <a:ea typeface="Hanwha R"/>
              </a:rPr>
              <a:t>Gemma 4는 무료 등급만 있습니다. 결제 정보를 넣지 않아도 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8950" y="1905000"/>
            <a:ext cx="3594100" cy="3302000"/>
          </a:xfrm>
          <a:prstGeom prst="roundRect">
            <a:avLst>
              <a:gd name="adj" fmla="val 2692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2950" y="2159000"/>
            <a:ext cx="30861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500">
                <a:solidFill>
                  <a:srgbClr val="1A1A1A"/>
                </a:solidFill>
                <a:latin typeface="Hanwha B"/>
                <a:ea typeface="Hanwha B"/>
              </a:rPr>
              <a:t>한도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2950" y="3016250"/>
            <a:ext cx="30861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950">
                <a:solidFill>
                  <a:srgbClr val="1A1A1A"/>
                </a:solidFill>
                <a:latin typeface="Hanwha B"/>
                <a:ea typeface="Hanwha B"/>
              </a:rPr>
              <a:t>사용량 한도가 있습니다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2950" y="3492500"/>
            <a:ext cx="3086100" cy="158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>
                <a:solidFill>
                  <a:srgbClr val="4A4A4A"/>
                </a:solidFill>
                <a:latin typeface="Hanwha R"/>
                <a:ea typeface="Hanwha R"/>
              </a:rPr>
              <a:t>분당·하루 요청 수에 한도가 있습니다. 넘으면 잠시 막히고, 시간이 지나면 풀립니다.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9900" y="1905000"/>
            <a:ext cx="3594100" cy="3302000"/>
          </a:xfrm>
          <a:prstGeom prst="roundRect">
            <a:avLst>
              <a:gd name="adj" fmla="val 2692"/>
            </a:avLst>
          </a:prstGeom>
          <a:solidFill>
            <a:srgbClr val="FC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3900" y="2159000"/>
            <a:ext cx="30861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4500">
                <a:solidFill>
                  <a:srgbClr val="D85A0E"/>
                </a:solidFill>
                <a:latin typeface="Hanwha B"/>
                <a:ea typeface="Hanwha B"/>
              </a:rPr>
              <a:t>주의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3900" y="3016250"/>
            <a:ext cx="30861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950">
                <a:solidFill>
                  <a:srgbClr val="1A1A1A"/>
                </a:solidFill>
                <a:latin typeface="Hanwha B"/>
                <a:ea typeface="Hanwha B"/>
              </a:rPr>
              <a:t>회사 자료는 넣지 마세요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3900" y="3492500"/>
            <a:ext cx="3086100" cy="158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500">
                <a:solidFill>
                  <a:srgbClr val="4A4A4A"/>
                </a:solidFill>
                <a:latin typeface="Hanwha R"/>
                <a:ea typeface="Hanwha R"/>
              </a:rPr>
              <a:t>무료 등급에 입력한 내용은 구글 제품 개선에 쓰일 수 있습니다. 회사 자료·개인정보는 넣지 마세요.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8000" y="5461000"/>
            <a:ext cx="11176000" cy="825500"/>
          </a:xfrm>
          <a:prstGeom prst="roundRect">
            <a:avLst>
              <a:gd name="adj" fmla="val 9230"/>
            </a:avLst>
          </a:prstGeom>
          <a:solidFill>
            <a:srgbClr val="FC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1200" y="5461000"/>
            <a:ext cx="107696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1A1A1A"/>
                </a:solidFill>
                <a:latin typeface="Hanwha R"/>
                <a:ea typeface="Hanwha R"/>
              </a:rPr>
              <a:t>한도와 무료 조건은 바뀔 수 있습니다. 최신 내용은 ai.google.dev/gemini-api/docs/pricing 에서 확인하세요.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8000"/>
          </a:xfrm>
          <a:prstGeom prst="rect">
            <a:avLst/>
          </a:prstGeom>
          <a:solidFill>
            <a:srgbClr val="FC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5300"/>
            <a:ext cx="12192000" cy="12700"/>
          </a:xfrm>
          <a:prstGeom prst="rect">
            <a:avLst/>
          </a:prstGeom>
          <a:solidFill>
            <a:srgbClr val="ED6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4000" y="0"/>
            <a:ext cx="5080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>
                <a:solidFill>
                  <a:srgbClr val="4A4A4A"/>
                </a:solidFill>
                <a:latin typeface="Hanwha R"/>
                <a:ea typeface="Hanwha R"/>
              </a:rPr>
              <a:t>Gemma 4 API 초보자 가이드</a:t>
            </a:r>
          </a:p>
        </p:txBody>
      </p:sp>
      <p:pic>
        <p:nvPicPr>
          <p:cNvPr id="5" name="Picture 4" descr="hanwha-signature-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5200" y="50800"/>
            <a:ext cx="812800" cy="406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68000" y="6604000"/>
            <a:ext cx="127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75">
                <a:solidFill>
                  <a:srgbClr val="9A9A9A"/>
                </a:solidFill>
                <a:latin typeface="Hanwha R"/>
                <a:ea typeface="Hanwha R"/>
              </a:rPr>
              <a:t>4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825500"/>
            <a:ext cx="11176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ED6F1F"/>
                </a:solidFill>
                <a:latin typeface="Hanwha B"/>
                <a:ea typeface="Hanwha B"/>
              </a:rPr>
              <a:t>한눈에 보기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1047750"/>
            <a:ext cx="11176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>
                <a:solidFill>
                  <a:srgbClr val="1A1A1A"/>
                </a:solidFill>
                <a:latin typeface="Hanwha B"/>
                <a:ea typeface="Hanwha B"/>
              </a:rPr>
              <a:t>전체 흐름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1543050"/>
            <a:ext cx="11176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>
                <a:solidFill>
                  <a:srgbClr val="4A4A4A"/>
                </a:solidFill>
                <a:latin typeface="Hanwha R"/>
                <a:ea typeface="Hanwha R"/>
              </a:rPr>
              <a:t>4단계면 내 코드에서 Gemma 4를 부를 수 있습니다.</a:t>
            </a:r>
          </a:p>
        </p:txBody>
      </p:sp>
      <p:sp>
        <p:nvSpPr>
          <p:cNvPr id="10" name="Oval 9"/>
          <p:cNvSpPr/>
          <p:nvPr/>
        </p:nvSpPr>
        <p:spPr>
          <a:xfrm>
            <a:off x="1460500" y="2286000"/>
            <a:ext cx="609600" cy="609600"/>
          </a:xfrm>
          <a:prstGeom prst="ellipse">
            <a:avLst/>
          </a:prstGeom>
          <a:solidFill>
            <a:srgbClr val="ED6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0500" y="2286000"/>
            <a:ext cx="6096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>
                <a:solidFill>
                  <a:srgbClr val="FFFFFF"/>
                </a:solidFill>
                <a:latin typeface="Hanwha B"/>
                <a:ea typeface="Hanwha B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000" y="3111500"/>
            <a:ext cx="25146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950">
                <a:solidFill>
                  <a:srgbClr val="1A1A1A"/>
                </a:solidFill>
                <a:latin typeface="Hanwha B"/>
                <a:ea typeface="Hanwha B"/>
              </a:rPr>
              <a:t>코드 없이 써 보기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8000" y="3587750"/>
            <a:ext cx="25146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</a:pPr>
            <a:r>
              <a:rPr sz="1425">
                <a:solidFill>
                  <a:srgbClr val="4A4A4A"/>
                </a:solidFill>
                <a:latin typeface="Hanwha R"/>
                <a:ea typeface="Hanwha R"/>
              </a:rPr>
              <a:t>AI Studio 화면에서
바로 질문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413000" y="2476500"/>
            <a:ext cx="698500" cy="228600"/>
          </a:xfrm>
          <a:prstGeom prst="rightArrow">
            <a:avLst/>
          </a:prstGeom>
          <a:solidFill>
            <a:srgbClr val="FBD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254500" y="2286000"/>
            <a:ext cx="609600" cy="609600"/>
          </a:xfrm>
          <a:prstGeom prst="ellipse">
            <a:avLst/>
          </a:prstGeom>
          <a:solidFill>
            <a:srgbClr val="ED6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54500" y="2286000"/>
            <a:ext cx="6096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>
                <a:solidFill>
                  <a:srgbClr val="FFFFFF"/>
                </a:solidFill>
                <a:latin typeface="Hanwha B"/>
                <a:ea typeface="Hanwha B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02000" y="3111500"/>
            <a:ext cx="25146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950">
                <a:solidFill>
                  <a:srgbClr val="1A1A1A"/>
                </a:solidFill>
                <a:latin typeface="Hanwha B"/>
                <a:ea typeface="Hanwha B"/>
              </a:rPr>
              <a:t>API 키 발급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02000" y="3587750"/>
            <a:ext cx="25146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</a:pPr>
            <a:r>
              <a:rPr sz="1425">
                <a:solidFill>
                  <a:srgbClr val="4A4A4A"/>
                </a:solidFill>
                <a:latin typeface="Hanwha R"/>
                <a:ea typeface="Hanwha R"/>
              </a:rPr>
              <a:t>내 코드가 쓰는
출입증 만들기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207000" y="2476500"/>
            <a:ext cx="698500" cy="228600"/>
          </a:xfrm>
          <a:prstGeom prst="rightArrow">
            <a:avLst/>
          </a:prstGeom>
          <a:solidFill>
            <a:srgbClr val="FBD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48500" y="2286000"/>
            <a:ext cx="609600" cy="609600"/>
          </a:xfrm>
          <a:prstGeom prst="ellipse">
            <a:avLst/>
          </a:prstGeom>
          <a:solidFill>
            <a:srgbClr val="ED6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8500" y="2286000"/>
            <a:ext cx="6096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>
                <a:solidFill>
                  <a:srgbClr val="FFFFFF"/>
                </a:solidFill>
                <a:latin typeface="Hanwha B"/>
                <a:ea typeface="Hanwha B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0" y="3111500"/>
            <a:ext cx="25146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950">
                <a:solidFill>
                  <a:srgbClr val="1A1A1A"/>
                </a:solidFill>
                <a:latin typeface="Hanwha B"/>
                <a:ea typeface="Hanwha B"/>
              </a:rPr>
              <a:t>PC 준비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0" y="3587750"/>
            <a:ext cx="25146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</a:pPr>
            <a:r>
              <a:rPr sz="1425">
                <a:solidFill>
                  <a:srgbClr val="4A4A4A"/>
                </a:solidFill>
                <a:latin typeface="Hanwha R"/>
                <a:ea typeface="Hanwha R"/>
              </a:rPr>
              <a:t>Python과
라이브러리 설치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8001000" y="2476500"/>
            <a:ext cx="698500" cy="228600"/>
          </a:xfrm>
          <a:prstGeom prst="rightArrow">
            <a:avLst/>
          </a:prstGeom>
          <a:solidFill>
            <a:srgbClr val="FBD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42500" y="2286000"/>
            <a:ext cx="609600" cy="609600"/>
          </a:xfrm>
          <a:prstGeom prst="ellipse">
            <a:avLst/>
          </a:prstGeom>
          <a:solidFill>
            <a:srgbClr val="ED6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42500" y="2286000"/>
            <a:ext cx="6096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>
                <a:solidFill>
                  <a:srgbClr val="FFFFFF"/>
                </a:solidFill>
                <a:latin typeface="Hanwha B"/>
                <a:ea typeface="Hanwha B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90000" y="3111500"/>
            <a:ext cx="25146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950">
                <a:solidFill>
                  <a:srgbClr val="1A1A1A"/>
                </a:solidFill>
                <a:latin typeface="Hanwha B"/>
                <a:ea typeface="Hanwha B"/>
              </a:rPr>
              <a:t>첫 호출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90000" y="3587750"/>
            <a:ext cx="25146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</a:pPr>
            <a:r>
              <a:rPr sz="1425">
                <a:solidFill>
                  <a:srgbClr val="4A4A4A"/>
                </a:solidFill>
                <a:latin typeface="Hanwha R"/>
                <a:ea typeface="Hanwha R"/>
              </a:rPr>
              <a:t>코드 몇 줄로
답 받아오기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8000" y="5461000"/>
            <a:ext cx="11176000" cy="825500"/>
          </a:xfrm>
          <a:prstGeom prst="roundRect">
            <a:avLst>
              <a:gd name="adj" fmla="val 9230"/>
            </a:avLst>
          </a:prstGeom>
          <a:solidFill>
            <a:srgbClr val="FC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1200" y="5461000"/>
            <a:ext cx="107696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1A1A1A"/>
                </a:solidFill>
                <a:latin typeface="Hanwha R"/>
                <a:ea typeface="Hanwha R"/>
              </a:rPr>
              <a:t>1단계만 해도 Gemma 4를 쓸 수 있습니다. 내 프로그램에 붙일 때만 2~4단계가 필요합니다.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8000"/>
          </a:xfrm>
          <a:prstGeom prst="rect">
            <a:avLst/>
          </a:prstGeom>
          <a:solidFill>
            <a:srgbClr val="FC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5300"/>
            <a:ext cx="12192000" cy="12700"/>
          </a:xfrm>
          <a:prstGeom prst="rect">
            <a:avLst/>
          </a:prstGeom>
          <a:solidFill>
            <a:srgbClr val="ED6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4000" y="0"/>
            <a:ext cx="5080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>
                <a:solidFill>
                  <a:srgbClr val="4A4A4A"/>
                </a:solidFill>
                <a:latin typeface="Hanwha R"/>
                <a:ea typeface="Hanwha R"/>
              </a:rPr>
              <a:t>Gemma 4 API 초보자 가이드</a:t>
            </a:r>
          </a:p>
        </p:txBody>
      </p:sp>
      <p:pic>
        <p:nvPicPr>
          <p:cNvPr id="5" name="Picture 4" descr="hanwha-signature-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5200" y="50800"/>
            <a:ext cx="812800" cy="406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68000" y="6604000"/>
            <a:ext cx="127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75">
                <a:solidFill>
                  <a:srgbClr val="9A9A9A"/>
                </a:solidFill>
                <a:latin typeface="Hanwha R"/>
                <a:ea typeface="Hanwha R"/>
              </a:rPr>
              <a:t>5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825500"/>
            <a:ext cx="11176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ED6F1F"/>
                </a:solidFill>
                <a:latin typeface="Hanwha B"/>
                <a:ea typeface="Hanwha B"/>
              </a:rPr>
              <a:t>1단계 · 코드 없이 써 보기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1047750"/>
            <a:ext cx="11176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>
                <a:solidFill>
                  <a:srgbClr val="1A1A1A"/>
                </a:solidFill>
                <a:latin typeface="Hanwha B"/>
                <a:ea typeface="Hanwha B"/>
              </a:rPr>
              <a:t>AI Studio 접속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1543050"/>
            <a:ext cx="11176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>
                <a:solidFill>
                  <a:srgbClr val="4A4A4A"/>
                </a:solidFill>
                <a:latin typeface="Hanwha R"/>
                <a:ea typeface="Hanwha R"/>
              </a:rPr>
              <a:t>인터넷 브라우저에서 aistudio.google.com 에 들어갑니다.</a:t>
            </a:r>
          </a:p>
        </p:txBody>
      </p:sp>
      <p:sp>
        <p:nvSpPr>
          <p:cNvPr id="10" name="Oval 9"/>
          <p:cNvSpPr/>
          <p:nvPr/>
        </p:nvSpPr>
        <p:spPr>
          <a:xfrm>
            <a:off x="508000" y="2159000"/>
            <a:ext cx="254000" cy="254000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8000" y="21590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>
                <a:solidFill>
                  <a:srgbClr val="FFFFFF"/>
                </a:solidFill>
                <a:latin typeface="Hanwha B"/>
                <a:ea typeface="Hanwha B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000" y="2146300"/>
            <a:ext cx="3175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>
                <a:solidFill>
                  <a:srgbClr val="1A1A1A"/>
                </a:solidFill>
                <a:latin typeface="Hanwha B"/>
                <a:ea typeface="Hanwha B"/>
              </a:rPr>
              <a:t>Get started 클릭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9000" y="2501900"/>
            <a:ext cx="3175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>
                <a:solidFill>
                  <a:srgbClr val="4A4A4A"/>
                </a:solidFill>
                <a:latin typeface="Hanwha R"/>
                <a:ea typeface="Hanwha R"/>
              </a:rPr>
              <a:t>오른쪽 위의 Get started 버튼을 누릅니다.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8000" y="5080000"/>
            <a:ext cx="3556000" cy="1397000"/>
          </a:xfrm>
          <a:prstGeom prst="roundRect">
            <a:avLst>
              <a:gd name="adj" fmla="val 5454"/>
            </a:avLst>
          </a:prstGeom>
          <a:solidFill>
            <a:srgbClr val="FC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400" y="5080000"/>
            <a:ext cx="3251200" cy="1397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>
                <a:solidFill>
                  <a:srgbClr val="1A1A1A"/>
                </a:solidFill>
                <a:latin typeface="Hanwha R"/>
                <a:ea typeface="Hanwha R"/>
              </a:rPr>
              <a:t>구글 로그인 화면이 나오면 내 구글 계정으로 로그인합니다. 처음이면 이용 약관에 동의합니다.</a:t>
            </a:r>
          </a:p>
        </p:txBody>
      </p:sp>
      <p:pic>
        <p:nvPicPr>
          <p:cNvPr id="16" name="Picture 15" descr="s1_welc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1905000"/>
            <a:ext cx="7302500" cy="4167612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4381500" y="1905000"/>
            <a:ext cx="7302500" cy="4167612"/>
          </a:xfrm>
          <a:prstGeom prst="rect">
            <a:avLst/>
          </a:prstGeom>
          <a:noFill/>
          <a:ln w="1270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8000"/>
          </a:xfrm>
          <a:prstGeom prst="rect">
            <a:avLst/>
          </a:prstGeom>
          <a:solidFill>
            <a:srgbClr val="FC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5300"/>
            <a:ext cx="12192000" cy="12700"/>
          </a:xfrm>
          <a:prstGeom prst="rect">
            <a:avLst/>
          </a:prstGeom>
          <a:solidFill>
            <a:srgbClr val="ED6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4000" y="0"/>
            <a:ext cx="5080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>
                <a:solidFill>
                  <a:srgbClr val="4A4A4A"/>
                </a:solidFill>
                <a:latin typeface="Hanwha R"/>
                <a:ea typeface="Hanwha R"/>
              </a:rPr>
              <a:t>Gemma 4 API 초보자 가이드</a:t>
            </a:r>
          </a:p>
        </p:txBody>
      </p:sp>
      <p:pic>
        <p:nvPicPr>
          <p:cNvPr id="5" name="Picture 4" descr="hanwha-signature-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5200" y="50800"/>
            <a:ext cx="812800" cy="406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68000" y="6604000"/>
            <a:ext cx="127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75">
                <a:solidFill>
                  <a:srgbClr val="9A9A9A"/>
                </a:solidFill>
                <a:latin typeface="Hanwha R"/>
                <a:ea typeface="Hanwha R"/>
              </a:rPr>
              <a:t>6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825500"/>
            <a:ext cx="11176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ED6F1F"/>
                </a:solidFill>
                <a:latin typeface="Hanwha B"/>
                <a:ea typeface="Hanwha B"/>
              </a:rPr>
              <a:t>1단계 · 코드 없이 써 보기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1047750"/>
            <a:ext cx="11176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>
                <a:solidFill>
                  <a:srgbClr val="1A1A1A"/>
                </a:solidFill>
                <a:latin typeface="Hanwha B"/>
                <a:ea typeface="Hanwha B"/>
              </a:rPr>
              <a:t>Playground 열기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1543050"/>
            <a:ext cx="11176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>
                <a:solidFill>
                  <a:srgbClr val="4A4A4A"/>
                </a:solidFill>
                <a:latin typeface="Hanwha R"/>
                <a:ea typeface="Hanwha R"/>
              </a:rPr>
              <a:t>Playground는 AI에게 바로 질문해 보는 화면입니다.</a:t>
            </a:r>
          </a:p>
        </p:txBody>
      </p:sp>
      <p:sp>
        <p:nvSpPr>
          <p:cNvPr id="10" name="Oval 9"/>
          <p:cNvSpPr/>
          <p:nvPr/>
        </p:nvSpPr>
        <p:spPr>
          <a:xfrm>
            <a:off x="508000" y="2159000"/>
            <a:ext cx="254000" cy="254000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8000" y="21590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>
                <a:solidFill>
                  <a:srgbClr val="FFFFFF"/>
                </a:solidFill>
                <a:latin typeface="Hanwha B"/>
                <a:ea typeface="Hanwha B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000" y="2146300"/>
            <a:ext cx="3175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>
                <a:solidFill>
                  <a:srgbClr val="1A1A1A"/>
                </a:solidFill>
                <a:latin typeface="Hanwha B"/>
                <a:ea typeface="Hanwha B"/>
              </a:rPr>
              <a:t>Playground 클릭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9000" y="2501900"/>
            <a:ext cx="3175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>
                <a:solidFill>
                  <a:srgbClr val="4A4A4A"/>
                </a:solidFill>
                <a:latin typeface="Hanwha R"/>
                <a:ea typeface="Hanwha R"/>
              </a:rPr>
              <a:t>왼쪽 메뉴에서 Playground 를 누릅니다.</a:t>
            </a:r>
          </a:p>
        </p:txBody>
      </p:sp>
      <p:sp>
        <p:nvSpPr>
          <p:cNvPr id="14" name="Oval 13"/>
          <p:cNvSpPr/>
          <p:nvPr/>
        </p:nvSpPr>
        <p:spPr>
          <a:xfrm>
            <a:off x="508000" y="3238500"/>
            <a:ext cx="254000" cy="254000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8000" y="32385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>
                <a:solidFill>
                  <a:srgbClr val="FFFFFF"/>
                </a:solidFill>
                <a:latin typeface="Hanwha B"/>
                <a:ea typeface="Hanwha B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000" y="3225800"/>
            <a:ext cx="3175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>
                <a:solidFill>
                  <a:srgbClr val="1A1A1A"/>
                </a:solidFill>
                <a:latin typeface="Hanwha B"/>
                <a:ea typeface="Hanwha B"/>
              </a:rPr>
              <a:t>모델 이름 클릭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9000" y="3581400"/>
            <a:ext cx="3175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>
                <a:solidFill>
                  <a:srgbClr val="4A4A4A"/>
                </a:solidFill>
                <a:latin typeface="Hanwha R"/>
                <a:ea typeface="Hanwha R"/>
              </a:rPr>
              <a:t>오른쪽 Run settings 맨 위의 모델 이름을 누르면 모델 목록이 열립니다.</a:t>
            </a:r>
          </a:p>
        </p:txBody>
      </p:sp>
      <p:pic>
        <p:nvPicPr>
          <p:cNvPr id="18" name="Picture 17" descr="s1_p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1905000"/>
            <a:ext cx="7302500" cy="4167612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381500" y="1905000"/>
            <a:ext cx="7302500" cy="4167612"/>
          </a:xfrm>
          <a:prstGeom prst="rect">
            <a:avLst/>
          </a:prstGeom>
          <a:noFill/>
          <a:ln w="1270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8000"/>
          </a:xfrm>
          <a:prstGeom prst="rect">
            <a:avLst/>
          </a:prstGeom>
          <a:solidFill>
            <a:srgbClr val="FC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5300"/>
            <a:ext cx="12192000" cy="12700"/>
          </a:xfrm>
          <a:prstGeom prst="rect">
            <a:avLst/>
          </a:prstGeom>
          <a:solidFill>
            <a:srgbClr val="ED6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4000" y="0"/>
            <a:ext cx="5080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>
                <a:solidFill>
                  <a:srgbClr val="4A4A4A"/>
                </a:solidFill>
                <a:latin typeface="Hanwha R"/>
                <a:ea typeface="Hanwha R"/>
              </a:rPr>
              <a:t>Gemma 4 API 초보자 가이드</a:t>
            </a:r>
          </a:p>
        </p:txBody>
      </p:sp>
      <p:pic>
        <p:nvPicPr>
          <p:cNvPr id="5" name="Picture 4" descr="hanwha-signature-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5200" y="50800"/>
            <a:ext cx="812800" cy="406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68000" y="6604000"/>
            <a:ext cx="127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75">
                <a:solidFill>
                  <a:srgbClr val="9A9A9A"/>
                </a:solidFill>
                <a:latin typeface="Hanwha R"/>
                <a:ea typeface="Hanwha R"/>
              </a:rPr>
              <a:t>7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825500"/>
            <a:ext cx="11176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ED6F1F"/>
                </a:solidFill>
                <a:latin typeface="Hanwha B"/>
                <a:ea typeface="Hanwha B"/>
              </a:rPr>
              <a:t>1단계 · 코드 없이 써 보기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1047750"/>
            <a:ext cx="11176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>
                <a:solidFill>
                  <a:srgbClr val="1A1A1A"/>
                </a:solidFill>
                <a:latin typeface="Hanwha B"/>
                <a:ea typeface="Hanwha B"/>
              </a:rPr>
              <a:t>Gemma 4 모델 고르기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1543050"/>
            <a:ext cx="11176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>
                <a:solidFill>
                  <a:srgbClr val="4A4A4A"/>
                </a:solidFill>
                <a:latin typeface="Hanwha R"/>
                <a:ea typeface="Hanwha R"/>
              </a:rPr>
              <a:t>목록에서 Gemma 4를 찾아 고릅니다.</a:t>
            </a:r>
          </a:p>
        </p:txBody>
      </p:sp>
      <p:sp>
        <p:nvSpPr>
          <p:cNvPr id="10" name="Oval 9"/>
          <p:cNvSpPr/>
          <p:nvPr/>
        </p:nvSpPr>
        <p:spPr>
          <a:xfrm>
            <a:off x="508000" y="2159000"/>
            <a:ext cx="254000" cy="254000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8000" y="21590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>
                <a:solidFill>
                  <a:srgbClr val="FFFFFF"/>
                </a:solidFill>
                <a:latin typeface="Hanwha B"/>
                <a:ea typeface="Hanwha B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000" y="2146300"/>
            <a:ext cx="3175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>
                <a:solidFill>
                  <a:srgbClr val="1A1A1A"/>
                </a:solidFill>
                <a:latin typeface="Hanwha B"/>
                <a:ea typeface="Hanwha B"/>
              </a:rPr>
              <a:t>Gemma 탭 클릭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9000" y="2501900"/>
            <a:ext cx="3175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>
                <a:solidFill>
                  <a:srgbClr val="4A4A4A"/>
                </a:solidFill>
                <a:latin typeface="Hanwha R"/>
                <a:ea typeface="Hanwha R"/>
              </a:rPr>
              <a:t>모델 종류 중 Gemma 를 누르면 Gemma 모델만 보입니다.</a:t>
            </a:r>
          </a:p>
        </p:txBody>
      </p:sp>
      <p:sp>
        <p:nvSpPr>
          <p:cNvPr id="14" name="Oval 13"/>
          <p:cNvSpPr/>
          <p:nvPr/>
        </p:nvSpPr>
        <p:spPr>
          <a:xfrm>
            <a:off x="508000" y="3492500"/>
            <a:ext cx="254000" cy="254000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8000" y="34925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>
                <a:solidFill>
                  <a:srgbClr val="FFFFFF"/>
                </a:solidFill>
                <a:latin typeface="Hanwha B"/>
                <a:ea typeface="Hanwha B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000" y="3479800"/>
            <a:ext cx="3175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>
                <a:solidFill>
                  <a:srgbClr val="1A1A1A"/>
                </a:solidFill>
                <a:latin typeface="Hanwha B"/>
                <a:ea typeface="Hanwha B"/>
              </a:rPr>
              <a:t>Gemma 4 26B A4B IT 클릭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9000" y="3835400"/>
            <a:ext cx="3175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>
                <a:solidFill>
                  <a:srgbClr val="4A4A4A"/>
                </a:solidFill>
                <a:latin typeface="Hanwha R"/>
                <a:ea typeface="Hanwha R"/>
              </a:rPr>
              <a:t>가볍고 빠른 모델입니다. 처음엔 이것을 고릅니다.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8000" y="5080000"/>
            <a:ext cx="3556000" cy="1397000"/>
          </a:xfrm>
          <a:prstGeom prst="roundRect">
            <a:avLst>
              <a:gd name="adj" fmla="val 5454"/>
            </a:avLst>
          </a:prstGeom>
          <a:solidFill>
            <a:srgbClr val="FC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5080000"/>
            <a:ext cx="3251200" cy="1397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>
                <a:solidFill>
                  <a:srgbClr val="1A1A1A"/>
                </a:solidFill>
                <a:latin typeface="Hanwha R"/>
                <a:ea typeface="Hanwha R"/>
              </a:rPr>
              <a:t>더 꼼꼼한 답이 필요하면 아래의 Gemma 4 31B IT 를 고릅니다.</a:t>
            </a:r>
          </a:p>
        </p:txBody>
      </p:sp>
      <p:pic>
        <p:nvPicPr>
          <p:cNvPr id="20" name="Picture 19" descr="s1_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1905000"/>
            <a:ext cx="7302500" cy="416761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4381500" y="1905000"/>
            <a:ext cx="7302500" cy="4167612"/>
          </a:xfrm>
          <a:prstGeom prst="rect">
            <a:avLst/>
          </a:prstGeom>
          <a:noFill/>
          <a:ln w="1270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8000"/>
          </a:xfrm>
          <a:prstGeom prst="rect">
            <a:avLst/>
          </a:prstGeom>
          <a:solidFill>
            <a:srgbClr val="FC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5300"/>
            <a:ext cx="12192000" cy="12700"/>
          </a:xfrm>
          <a:prstGeom prst="rect">
            <a:avLst/>
          </a:prstGeom>
          <a:solidFill>
            <a:srgbClr val="ED6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4000" y="0"/>
            <a:ext cx="5080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>
                <a:solidFill>
                  <a:srgbClr val="4A4A4A"/>
                </a:solidFill>
                <a:latin typeface="Hanwha R"/>
                <a:ea typeface="Hanwha R"/>
              </a:rPr>
              <a:t>Gemma 4 API 초보자 가이드</a:t>
            </a:r>
          </a:p>
        </p:txBody>
      </p:sp>
      <p:pic>
        <p:nvPicPr>
          <p:cNvPr id="5" name="Picture 4" descr="hanwha-signature-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5200" y="50800"/>
            <a:ext cx="812800" cy="406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68000" y="6604000"/>
            <a:ext cx="127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75">
                <a:solidFill>
                  <a:srgbClr val="9A9A9A"/>
                </a:solidFill>
                <a:latin typeface="Hanwha R"/>
                <a:ea typeface="Hanwha R"/>
              </a:rPr>
              <a:t>8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825500"/>
            <a:ext cx="11176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ED6F1F"/>
                </a:solidFill>
                <a:latin typeface="Hanwha B"/>
                <a:ea typeface="Hanwha B"/>
              </a:rPr>
              <a:t>1단계 · 코드 없이 써 보기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1047750"/>
            <a:ext cx="11176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>
                <a:solidFill>
                  <a:srgbClr val="1A1A1A"/>
                </a:solidFill>
                <a:latin typeface="Hanwha B"/>
                <a:ea typeface="Hanwha B"/>
              </a:rPr>
              <a:t>질문 입력하고 실행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1543050"/>
            <a:ext cx="11176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>
                <a:solidFill>
                  <a:srgbClr val="4A4A4A"/>
                </a:solidFill>
                <a:latin typeface="Hanwha R"/>
                <a:ea typeface="Hanwha R"/>
              </a:rPr>
              <a:t>모델이 Gemma 4로 바뀌었는지 오른쪽 위에서 확인한 뒤 질문합니다.</a:t>
            </a:r>
          </a:p>
        </p:txBody>
      </p:sp>
      <p:sp>
        <p:nvSpPr>
          <p:cNvPr id="10" name="Oval 9"/>
          <p:cNvSpPr/>
          <p:nvPr/>
        </p:nvSpPr>
        <p:spPr>
          <a:xfrm>
            <a:off x="508000" y="2159000"/>
            <a:ext cx="254000" cy="254000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8000" y="21590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>
                <a:solidFill>
                  <a:srgbClr val="FFFFFF"/>
                </a:solidFill>
                <a:latin typeface="Hanwha B"/>
                <a:ea typeface="Hanwha B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000" y="2146300"/>
            <a:ext cx="3175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>
                <a:solidFill>
                  <a:srgbClr val="1A1A1A"/>
                </a:solidFill>
                <a:latin typeface="Hanwha B"/>
                <a:ea typeface="Hanwha B"/>
              </a:rPr>
              <a:t>질문 입력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9000" y="2501900"/>
            <a:ext cx="3175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>
                <a:solidFill>
                  <a:srgbClr val="4A4A4A"/>
                </a:solidFill>
                <a:latin typeface="Hanwha R"/>
                <a:ea typeface="Hanwha R"/>
              </a:rPr>
              <a:t>아래 입력창에 묻고 싶은 내용을 씁니다.</a:t>
            </a:r>
          </a:p>
        </p:txBody>
      </p:sp>
      <p:sp>
        <p:nvSpPr>
          <p:cNvPr id="14" name="Oval 13"/>
          <p:cNvSpPr/>
          <p:nvPr/>
        </p:nvSpPr>
        <p:spPr>
          <a:xfrm>
            <a:off x="508000" y="3238500"/>
            <a:ext cx="254000" cy="254000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8000" y="32385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>
                <a:solidFill>
                  <a:srgbClr val="FFFFFF"/>
                </a:solidFill>
                <a:latin typeface="Hanwha B"/>
                <a:ea typeface="Hanwha B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000" y="3225800"/>
            <a:ext cx="3175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>
                <a:solidFill>
                  <a:srgbClr val="1A1A1A"/>
                </a:solidFill>
                <a:latin typeface="Hanwha B"/>
                <a:ea typeface="Hanwha B"/>
              </a:rPr>
              <a:t>Run 클릭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9000" y="3581400"/>
            <a:ext cx="3175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>
                <a:solidFill>
                  <a:srgbClr val="4A4A4A"/>
                </a:solidFill>
                <a:latin typeface="Hanwha R"/>
                <a:ea typeface="Hanwha R"/>
              </a:rPr>
              <a:t>Run 버튼(또는 Ctrl + Enter)을 누르면 답을 만들기 시작합니다.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8000" y="5080000"/>
            <a:ext cx="3556000" cy="1397000"/>
          </a:xfrm>
          <a:prstGeom prst="roundRect">
            <a:avLst>
              <a:gd name="adj" fmla="val 5454"/>
            </a:avLst>
          </a:prstGeom>
          <a:solidFill>
            <a:srgbClr val="FC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5080000"/>
            <a:ext cx="3251200" cy="1397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>
                <a:solidFill>
                  <a:srgbClr val="1A1A1A"/>
                </a:solidFill>
                <a:latin typeface="Hanwha R"/>
                <a:ea typeface="Hanwha R"/>
              </a:rPr>
              <a:t>처음 실행하면 Google Drive 저장 안내 창이 뜹니다. 대화를 남기려면 Enable Google Drive, 아니면 Cancel and use Temporary chat 을 누릅니다.</a:t>
            </a:r>
          </a:p>
        </p:txBody>
      </p:sp>
      <p:pic>
        <p:nvPicPr>
          <p:cNvPr id="20" name="Picture 19" descr="s1_ty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1905000"/>
            <a:ext cx="7302500" cy="4167612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4381500" y="1905000"/>
            <a:ext cx="7302500" cy="4167612"/>
          </a:xfrm>
          <a:prstGeom prst="rect">
            <a:avLst/>
          </a:prstGeom>
          <a:noFill/>
          <a:ln w="1270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8000"/>
          </a:xfrm>
          <a:prstGeom prst="rect">
            <a:avLst/>
          </a:prstGeom>
          <a:solidFill>
            <a:srgbClr val="FC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5300"/>
            <a:ext cx="12192000" cy="12700"/>
          </a:xfrm>
          <a:prstGeom prst="rect">
            <a:avLst/>
          </a:prstGeom>
          <a:solidFill>
            <a:srgbClr val="ED6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4000" y="0"/>
            <a:ext cx="5080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>
                <a:solidFill>
                  <a:srgbClr val="4A4A4A"/>
                </a:solidFill>
                <a:latin typeface="Hanwha R"/>
                <a:ea typeface="Hanwha R"/>
              </a:rPr>
              <a:t>Gemma 4 API 초보자 가이드</a:t>
            </a:r>
          </a:p>
        </p:txBody>
      </p:sp>
      <p:pic>
        <p:nvPicPr>
          <p:cNvPr id="5" name="Picture 4" descr="hanwha-signature-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5200" y="50800"/>
            <a:ext cx="812800" cy="406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68000" y="6604000"/>
            <a:ext cx="127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75">
                <a:solidFill>
                  <a:srgbClr val="9A9A9A"/>
                </a:solidFill>
                <a:latin typeface="Hanwha R"/>
                <a:ea typeface="Hanwha R"/>
              </a:rPr>
              <a:t>9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825500"/>
            <a:ext cx="11176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ED6F1F"/>
                </a:solidFill>
                <a:latin typeface="Hanwha B"/>
                <a:ea typeface="Hanwha B"/>
              </a:rPr>
              <a:t>1단계 · 코드 없이 써 보기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1047750"/>
            <a:ext cx="11176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>
                <a:solidFill>
                  <a:srgbClr val="1A1A1A"/>
                </a:solidFill>
                <a:latin typeface="Hanwha B"/>
                <a:ea typeface="Hanwha B"/>
              </a:rPr>
              <a:t>답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1543050"/>
            <a:ext cx="11176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>
                <a:solidFill>
                  <a:srgbClr val="4A4A4A"/>
                </a:solidFill>
                <a:latin typeface="Hanwha R"/>
                <a:ea typeface="Hanwha R"/>
              </a:rPr>
              <a:t>여기까지 되면 API 키 없이도 Gemma 4를 쓸 수 있습니다.</a:t>
            </a:r>
          </a:p>
        </p:txBody>
      </p:sp>
      <p:sp>
        <p:nvSpPr>
          <p:cNvPr id="10" name="Oval 9"/>
          <p:cNvSpPr/>
          <p:nvPr/>
        </p:nvSpPr>
        <p:spPr>
          <a:xfrm>
            <a:off x="508000" y="2159000"/>
            <a:ext cx="254000" cy="254000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8000" y="21590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>
                <a:solidFill>
                  <a:srgbClr val="FFFFFF"/>
                </a:solidFill>
                <a:latin typeface="Hanwha B"/>
                <a:ea typeface="Hanwha B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000" y="2146300"/>
            <a:ext cx="3175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>
                <a:solidFill>
                  <a:srgbClr val="1A1A1A"/>
                </a:solidFill>
                <a:latin typeface="Hanwha B"/>
                <a:ea typeface="Hanwha B"/>
              </a:rPr>
              <a:t>내가 보낸 질문</a:t>
            </a:r>
          </a:p>
        </p:txBody>
      </p:sp>
      <p:sp>
        <p:nvSpPr>
          <p:cNvPr id="13" name="Oval 12"/>
          <p:cNvSpPr/>
          <p:nvPr/>
        </p:nvSpPr>
        <p:spPr>
          <a:xfrm>
            <a:off x="508000" y="2730500"/>
            <a:ext cx="254000" cy="254000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000" y="27305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>
                <a:solidFill>
                  <a:srgbClr val="FFFFFF"/>
                </a:solidFill>
                <a:latin typeface="Hanwha B"/>
                <a:ea typeface="Hanwha B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9000" y="2717800"/>
            <a:ext cx="3175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>
                <a:solidFill>
                  <a:srgbClr val="1A1A1A"/>
                </a:solidFill>
                <a:latin typeface="Hanwha B"/>
                <a:ea typeface="Hanwha B"/>
              </a:rPr>
              <a:t>Gemma 4의 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000" y="3073400"/>
            <a:ext cx="31750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>
                <a:solidFill>
                  <a:srgbClr val="4A4A4A"/>
                </a:solidFill>
                <a:latin typeface="Hanwha R"/>
                <a:ea typeface="Hanwha R"/>
              </a:rPr>
              <a:t>한국어로 질문하면 한국어로 답합니다. Thoughts 를 펼치면 모델이 생각한 과정도 볼 수 있습니다.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8000" y="5080000"/>
            <a:ext cx="3556000" cy="1397000"/>
          </a:xfrm>
          <a:prstGeom prst="roundRect">
            <a:avLst>
              <a:gd name="adj" fmla="val 5454"/>
            </a:avLst>
          </a:prstGeom>
          <a:solidFill>
            <a:srgbClr val="FC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400" y="5080000"/>
            <a:ext cx="3251200" cy="1397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>
                <a:solidFill>
                  <a:srgbClr val="1A1A1A"/>
                </a:solidFill>
                <a:latin typeface="Hanwha R"/>
                <a:ea typeface="Hanwha R"/>
              </a:rPr>
              <a:t>AI의 답은 틀릴 수 있습니다. 중요한 내용은 꼭 직접 확인하세요.</a:t>
            </a:r>
          </a:p>
        </p:txBody>
      </p:sp>
      <p:pic>
        <p:nvPicPr>
          <p:cNvPr id="19" name="Picture 18" descr="s1_answ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1905000"/>
            <a:ext cx="7302500" cy="4167612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4381500" y="1905000"/>
            <a:ext cx="7302500" cy="4167612"/>
          </a:xfrm>
          <a:prstGeom prst="rect">
            <a:avLst/>
          </a:prstGeom>
          <a:noFill/>
          <a:ln w="1270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8000"/>
          </a:xfrm>
          <a:prstGeom prst="rect">
            <a:avLst/>
          </a:prstGeom>
          <a:solidFill>
            <a:srgbClr val="FC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5300"/>
            <a:ext cx="12192000" cy="12700"/>
          </a:xfrm>
          <a:prstGeom prst="rect">
            <a:avLst/>
          </a:prstGeom>
          <a:solidFill>
            <a:srgbClr val="ED6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4000" y="0"/>
            <a:ext cx="5080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>
                <a:solidFill>
                  <a:srgbClr val="4A4A4A"/>
                </a:solidFill>
                <a:latin typeface="Hanwha R"/>
                <a:ea typeface="Hanwha R"/>
              </a:rPr>
              <a:t>Gemma 4 API 초보자 가이드</a:t>
            </a:r>
          </a:p>
        </p:txBody>
      </p:sp>
      <p:pic>
        <p:nvPicPr>
          <p:cNvPr id="5" name="Picture 4" descr="hanwha-signature-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5200" y="50800"/>
            <a:ext cx="812800" cy="406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68000" y="6604000"/>
            <a:ext cx="127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75">
                <a:solidFill>
                  <a:srgbClr val="9A9A9A"/>
                </a:solidFill>
                <a:latin typeface="Hanwha R"/>
                <a:ea typeface="Hanwha R"/>
              </a:rPr>
              <a:t>10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825500"/>
            <a:ext cx="11176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ED6F1F"/>
                </a:solidFill>
                <a:latin typeface="Hanwha B"/>
                <a:ea typeface="Hanwha B"/>
              </a:rPr>
              <a:t>2단계 · API 키 발급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1047750"/>
            <a:ext cx="11176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>
                <a:solidFill>
                  <a:srgbClr val="1A1A1A"/>
                </a:solidFill>
                <a:latin typeface="Hanwha B"/>
                <a:ea typeface="Hanwha B"/>
              </a:rPr>
              <a:t>API 키 화면 열기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1543050"/>
            <a:ext cx="11176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>
                <a:solidFill>
                  <a:srgbClr val="4A4A4A"/>
                </a:solidFill>
                <a:latin typeface="Hanwha R"/>
                <a:ea typeface="Hanwha R"/>
              </a:rPr>
              <a:t>API 키는 내 코드가 구글 서버를 쓸 때 내미는 출입증입니다.</a:t>
            </a:r>
          </a:p>
        </p:txBody>
      </p:sp>
      <p:sp>
        <p:nvSpPr>
          <p:cNvPr id="10" name="Oval 9"/>
          <p:cNvSpPr/>
          <p:nvPr/>
        </p:nvSpPr>
        <p:spPr>
          <a:xfrm>
            <a:off x="508000" y="2159000"/>
            <a:ext cx="254000" cy="254000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8000" y="21590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>
                <a:solidFill>
                  <a:srgbClr val="FFFFFF"/>
                </a:solidFill>
                <a:latin typeface="Hanwha B"/>
                <a:ea typeface="Hanwha B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000" y="2146300"/>
            <a:ext cx="3175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>
                <a:solidFill>
                  <a:srgbClr val="1A1A1A"/>
                </a:solidFill>
                <a:latin typeface="Hanwha B"/>
                <a:ea typeface="Hanwha B"/>
              </a:rPr>
              <a:t>API 키 메뉴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9000" y="2501900"/>
            <a:ext cx="3175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>
                <a:solidFill>
                  <a:srgbClr val="4A4A4A"/>
                </a:solidFill>
                <a:latin typeface="Hanwha R"/>
                <a:ea typeface="Hanwha R"/>
              </a:rPr>
              <a:t>왼쪽 메뉴 Dashboard 를 누르면 API 키 화면이 열립니다.</a:t>
            </a:r>
          </a:p>
        </p:txBody>
      </p:sp>
      <p:sp>
        <p:nvSpPr>
          <p:cNvPr id="14" name="Oval 13"/>
          <p:cNvSpPr/>
          <p:nvPr/>
        </p:nvSpPr>
        <p:spPr>
          <a:xfrm>
            <a:off x="508000" y="3492500"/>
            <a:ext cx="254000" cy="254000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8000" y="34925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>
                <a:solidFill>
                  <a:srgbClr val="FFFFFF"/>
                </a:solidFill>
                <a:latin typeface="Hanwha B"/>
                <a:ea typeface="Hanwha B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000" y="3479800"/>
            <a:ext cx="3175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>
                <a:solidFill>
                  <a:srgbClr val="1A1A1A"/>
                </a:solidFill>
                <a:latin typeface="Hanwha B"/>
                <a:ea typeface="Hanwha B"/>
              </a:rPr>
              <a:t>API 키 만들기 클릭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9000" y="3835400"/>
            <a:ext cx="3175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>
                <a:solidFill>
                  <a:srgbClr val="4A4A4A"/>
                </a:solidFill>
                <a:latin typeface="Hanwha R"/>
                <a:ea typeface="Hanwha R"/>
              </a:rPr>
              <a:t>오른쪽 위 API 키 만들기 버튼을 누릅니다.</a:t>
            </a:r>
          </a:p>
        </p:txBody>
      </p:sp>
      <p:pic>
        <p:nvPicPr>
          <p:cNvPr id="18" name="Picture 17" descr="s2_ke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1905000"/>
            <a:ext cx="7302500" cy="4167612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381500" y="1905000"/>
            <a:ext cx="7302500" cy="4167612"/>
          </a:xfrm>
          <a:prstGeom prst="rect">
            <a:avLst/>
          </a:prstGeom>
          <a:noFill/>
          <a:ln w="1270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8000"/>
          </a:xfrm>
          <a:prstGeom prst="rect">
            <a:avLst/>
          </a:prstGeom>
          <a:solidFill>
            <a:srgbClr val="FC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5300"/>
            <a:ext cx="12192000" cy="12700"/>
          </a:xfrm>
          <a:prstGeom prst="rect">
            <a:avLst/>
          </a:prstGeom>
          <a:solidFill>
            <a:srgbClr val="ED6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4000" y="0"/>
            <a:ext cx="5080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>
                <a:solidFill>
                  <a:srgbClr val="4A4A4A"/>
                </a:solidFill>
                <a:latin typeface="Hanwha R"/>
                <a:ea typeface="Hanwha R"/>
              </a:rPr>
              <a:t>Gemma 4 API 초보자 가이드</a:t>
            </a:r>
          </a:p>
        </p:txBody>
      </p:sp>
      <p:pic>
        <p:nvPicPr>
          <p:cNvPr id="5" name="Picture 4" descr="hanwha-signature-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5200" y="50800"/>
            <a:ext cx="812800" cy="406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68000" y="6604000"/>
            <a:ext cx="127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75">
                <a:solidFill>
                  <a:srgbClr val="9A9A9A"/>
                </a:solidFill>
                <a:latin typeface="Hanwha R"/>
                <a:ea typeface="Hanwha R"/>
              </a:rPr>
              <a:t>11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825500"/>
            <a:ext cx="11176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ED6F1F"/>
                </a:solidFill>
                <a:latin typeface="Hanwha B"/>
                <a:ea typeface="Hanwha B"/>
              </a:rPr>
              <a:t>2단계 · API 키 발급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1047750"/>
            <a:ext cx="11176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>
                <a:solidFill>
                  <a:srgbClr val="1A1A1A"/>
                </a:solidFill>
                <a:latin typeface="Hanwha B"/>
                <a:ea typeface="Hanwha B"/>
              </a:rPr>
              <a:t>프로젝트 만들기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1543050"/>
            <a:ext cx="11176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>
                <a:solidFill>
                  <a:srgbClr val="4A4A4A"/>
                </a:solidFill>
                <a:latin typeface="Hanwha R"/>
                <a:ea typeface="Hanwha R"/>
              </a:rPr>
              <a:t>키는 프로젝트에 속합니다. 처음이면 프로젝트부터 하나 만듭니다.</a:t>
            </a:r>
          </a:p>
        </p:txBody>
      </p:sp>
      <p:sp>
        <p:nvSpPr>
          <p:cNvPr id="10" name="Oval 9"/>
          <p:cNvSpPr/>
          <p:nvPr/>
        </p:nvSpPr>
        <p:spPr>
          <a:xfrm>
            <a:off x="508000" y="2159000"/>
            <a:ext cx="254000" cy="254000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8000" y="21590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>
                <a:solidFill>
                  <a:srgbClr val="FFFFFF"/>
                </a:solidFill>
                <a:latin typeface="Hanwha B"/>
                <a:ea typeface="Hanwha B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000" y="2146300"/>
            <a:ext cx="3175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>
                <a:solidFill>
                  <a:srgbClr val="1A1A1A"/>
                </a:solidFill>
                <a:latin typeface="Hanwha B"/>
                <a:ea typeface="Hanwha B"/>
              </a:rPr>
              <a:t>프로젝트 선택 칸 클릭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9000" y="2501900"/>
            <a:ext cx="3175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>
                <a:solidFill>
                  <a:srgbClr val="4A4A4A"/>
                </a:solidFill>
                <a:latin typeface="Hanwha R"/>
                <a:ea typeface="Hanwha R"/>
              </a:rPr>
              <a:t>처음이면 No Cloud Projects Available 이라고 나옵니다.</a:t>
            </a:r>
          </a:p>
        </p:txBody>
      </p:sp>
      <p:sp>
        <p:nvSpPr>
          <p:cNvPr id="14" name="Oval 13"/>
          <p:cNvSpPr/>
          <p:nvPr/>
        </p:nvSpPr>
        <p:spPr>
          <a:xfrm>
            <a:off x="508000" y="3492500"/>
            <a:ext cx="254000" cy="254000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8000" y="34925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>
                <a:solidFill>
                  <a:srgbClr val="FFFFFF"/>
                </a:solidFill>
                <a:latin typeface="Hanwha B"/>
                <a:ea typeface="Hanwha B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000" y="3479800"/>
            <a:ext cx="3175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>
                <a:solidFill>
                  <a:srgbClr val="1A1A1A"/>
                </a:solidFill>
                <a:latin typeface="Hanwha B"/>
                <a:ea typeface="Hanwha B"/>
              </a:rPr>
              <a:t>프로젝트 만들기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9000" y="3835400"/>
            <a:ext cx="3175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>
                <a:solidFill>
                  <a:srgbClr val="4A4A4A"/>
                </a:solidFill>
                <a:latin typeface="Hanwha R"/>
                <a:ea typeface="Hanwha R"/>
              </a:rPr>
              <a:t>이름을 정해 만듭니다. 비용은 들지 않습니다.</a:t>
            </a:r>
          </a:p>
        </p:txBody>
      </p:sp>
      <p:pic>
        <p:nvPicPr>
          <p:cNvPr id="18" name="Picture 17" descr="s2_proj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1905000"/>
            <a:ext cx="7302500" cy="4167612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4381500" y="1905000"/>
            <a:ext cx="7302500" cy="4167612"/>
          </a:xfrm>
          <a:prstGeom prst="rect">
            <a:avLst/>
          </a:prstGeom>
          <a:noFill/>
          <a:ln w="1270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8000"/>
          </a:xfrm>
          <a:prstGeom prst="rect">
            <a:avLst/>
          </a:prstGeom>
          <a:solidFill>
            <a:srgbClr val="FC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5300"/>
            <a:ext cx="12192000" cy="12700"/>
          </a:xfrm>
          <a:prstGeom prst="rect">
            <a:avLst/>
          </a:prstGeom>
          <a:solidFill>
            <a:srgbClr val="ED6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4000" y="0"/>
            <a:ext cx="5080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>
                <a:solidFill>
                  <a:srgbClr val="4A4A4A"/>
                </a:solidFill>
                <a:latin typeface="Hanwha R"/>
                <a:ea typeface="Hanwha R"/>
              </a:rPr>
              <a:t>Gemma 4 API 초보자 가이드</a:t>
            </a:r>
          </a:p>
        </p:txBody>
      </p:sp>
      <p:pic>
        <p:nvPicPr>
          <p:cNvPr id="5" name="Picture 4" descr="hanwha-signature-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5200" y="50800"/>
            <a:ext cx="812800" cy="406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68000" y="6604000"/>
            <a:ext cx="127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75">
                <a:solidFill>
                  <a:srgbClr val="9A9A9A"/>
                </a:solidFill>
                <a:latin typeface="Hanwha R"/>
                <a:ea typeface="Hanwha R"/>
              </a:rPr>
              <a:t>12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825500"/>
            <a:ext cx="11176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ED6F1F"/>
                </a:solidFill>
                <a:latin typeface="Hanwha B"/>
                <a:ea typeface="Hanwha B"/>
              </a:rPr>
              <a:t>2단계 · API 키 발급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1047750"/>
            <a:ext cx="11176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>
                <a:solidFill>
                  <a:srgbClr val="1A1A1A"/>
                </a:solidFill>
                <a:latin typeface="Hanwha B"/>
                <a:ea typeface="Hanwha B"/>
              </a:rPr>
              <a:t>키 만들고 복사하기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1543050"/>
            <a:ext cx="11176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>
                <a:solidFill>
                  <a:srgbClr val="4A4A4A"/>
                </a:solidFill>
                <a:latin typeface="Hanwha R"/>
                <a:ea typeface="Hanwha R"/>
              </a:rPr>
              <a:t>만들어진 키를 복사해 안전한 곳에 보관합니다.</a:t>
            </a:r>
          </a:p>
        </p:txBody>
      </p:sp>
      <p:sp>
        <p:nvSpPr>
          <p:cNvPr id="10" name="Oval 9"/>
          <p:cNvSpPr/>
          <p:nvPr/>
        </p:nvSpPr>
        <p:spPr>
          <a:xfrm>
            <a:off x="508000" y="2159000"/>
            <a:ext cx="254000" cy="254000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8000" y="21590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>
                <a:solidFill>
                  <a:srgbClr val="FFFFFF"/>
                </a:solidFill>
                <a:latin typeface="Hanwha B"/>
                <a:ea typeface="Hanwha B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9000" y="2146300"/>
            <a:ext cx="3175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>
                <a:solidFill>
                  <a:srgbClr val="1A1A1A"/>
                </a:solidFill>
                <a:latin typeface="Hanwha B"/>
                <a:ea typeface="Hanwha B"/>
              </a:rPr>
              <a:t>키 만들기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9000" y="2501900"/>
            <a:ext cx="3175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>
                <a:solidFill>
                  <a:srgbClr val="4A4A4A"/>
                </a:solidFill>
                <a:latin typeface="Hanwha R"/>
                <a:ea typeface="Hanwha R"/>
              </a:rPr>
              <a:t>프로젝트를 고른 뒤 키 만들기 를 누릅니다.</a:t>
            </a:r>
          </a:p>
        </p:txBody>
      </p:sp>
      <p:sp>
        <p:nvSpPr>
          <p:cNvPr id="14" name="Oval 13"/>
          <p:cNvSpPr/>
          <p:nvPr/>
        </p:nvSpPr>
        <p:spPr>
          <a:xfrm>
            <a:off x="508000" y="3238500"/>
            <a:ext cx="254000" cy="254000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8000" y="3238500"/>
            <a:ext cx="254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>
                <a:solidFill>
                  <a:srgbClr val="FFFFFF"/>
                </a:solidFill>
                <a:latin typeface="Hanwha B"/>
                <a:ea typeface="Hanwha B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000" y="3225800"/>
            <a:ext cx="3175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>
                <a:solidFill>
                  <a:srgbClr val="1A1A1A"/>
                </a:solidFill>
                <a:latin typeface="Hanwha B"/>
                <a:ea typeface="Hanwha B"/>
              </a:rPr>
              <a:t>키 복사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9000" y="3581400"/>
            <a:ext cx="317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>
                <a:solidFill>
                  <a:srgbClr val="4A4A4A"/>
                </a:solidFill>
                <a:latin typeface="Hanwha R"/>
                <a:ea typeface="Hanwha R"/>
              </a:rPr>
              <a:t>만들어진 키를 복사합니다.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8000" y="5080000"/>
            <a:ext cx="3556000" cy="1397000"/>
          </a:xfrm>
          <a:prstGeom prst="roundRect">
            <a:avLst>
              <a:gd name="adj" fmla="val 5454"/>
            </a:avLst>
          </a:prstGeom>
          <a:solidFill>
            <a:srgbClr val="FC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400" y="5080000"/>
            <a:ext cx="3251200" cy="1397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>
                <a:solidFill>
                  <a:srgbClr val="1A1A1A"/>
                </a:solidFill>
                <a:latin typeface="Hanwha R"/>
                <a:ea typeface="Hanwha R"/>
              </a:rPr>
              <a:t>키는 비밀번호와 같습니다. 메신저·메일로 보내거나 코드에 붙여넣지 마세요. 새어 나갔으면 새 키를 만들고 옛 키는 지웁니다.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1500" y="1905000"/>
            <a:ext cx="7302500" cy="4572000"/>
          </a:xfrm>
          <a:prstGeom prst="roundRect">
            <a:avLst>
              <a:gd name="adj" fmla="val 1111"/>
            </a:avLst>
          </a:prstGeom>
          <a:solidFill>
            <a:srgbClr val="F5F5F5"/>
          </a:solidFill>
          <a:ln w="1270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1500" y="1905000"/>
            <a:ext cx="73025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350">
                <a:solidFill>
                  <a:srgbClr val="9A9A9A"/>
                </a:solidFill>
                <a:latin typeface="Hanwha R"/>
                <a:ea typeface="Hanwha R"/>
              </a:rPr>
              <a:t>캡처 예정: s2_copy.png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8000"/>
          </a:xfrm>
          <a:prstGeom prst="rect">
            <a:avLst/>
          </a:prstGeom>
          <a:solidFill>
            <a:srgbClr val="FC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5300"/>
            <a:ext cx="12192000" cy="12700"/>
          </a:xfrm>
          <a:prstGeom prst="rect">
            <a:avLst/>
          </a:prstGeom>
          <a:solidFill>
            <a:srgbClr val="ED6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4000" y="0"/>
            <a:ext cx="5080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>
                <a:solidFill>
                  <a:srgbClr val="4A4A4A"/>
                </a:solidFill>
                <a:latin typeface="Hanwha R"/>
                <a:ea typeface="Hanwha R"/>
              </a:rPr>
              <a:t>Gemma 4 API 초보자 가이드</a:t>
            </a:r>
          </a:p>
        </p:txBody>
      </p:sp>
      <p:pic>
        <p:nvPicPr>
          <p:cNvPr id="5" name="Picture 4" descr="hanwha-signature-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5200" y="50800"/>
            <a:ext cx="812800" cy="406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68000" y="6604000"/>
            <a:ext cx="127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75">
                <a:solidFill>
                  <a:srgbClr val="9A9A9A"/>
                </a:solidFill>
                <a:latin typeface="Hanwha R"/>
                <a:ea typeface="Hanwha R"/>
              </a:rPr>
              <a:t>13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825500"/>
            <a:ext cx="11176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ED6F1F"/>
                </a:solidFill>
                <a:latin typeface="Hanwha B"/>
                <a:ea typeface="Hanwha B"/>
              </a:rPr>
              <a:t>3단계 · PC 준비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1047750"/>
            <a:ext cx="11176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>
                <a:solidFill>
                  <a:srgbClr val="1A1A1A"/>
                </a:solidFill>
                <a:latin typeface="Hanwha B"/>
                <a:ea typeface="Hanwha B"/>
              </a:rPr>
              <a:t>PC 준비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1543050"/>
            <a:ext cx="11176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>
                <a:solidFill>
                  <a:srgbClr val="4A4A4A"/>
                </a:solidFill>
                <a:latin typeface="Hanwha R"/>
                <a:ea typeface="Hanwha R"/>
              </a:rPr>
              <a:t>Python 3.10 이상과 라이브러리를 설치하고, 키를 환경변수에 저장합니다.</a:t>
            </a:r>
          </a:p>
        </p:txBody>
      </p:sp>
      <p:sp>
        <p:nvSpPr>
          <p:cNvPr id="10" name="Oval 9"/>
          <p:cNvSpPr/>
          <p:nvPr/>
        </p:nvSpPr>
        <p:spPr>
          <a:xfrm>
            <a:off x="508000" y="2159000"/>
            <a:ext cx="279400" cy="279400"/>
          </a:xfrm>
          <a:prstGeom prst="ellipse">
            <a:avLst/>
          </a:prstGeom>
          <a:solidFill>
            <a:srgbClr val="ED6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8000" y="2159000"/>
            <a:ext cx="279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>
                <a:solidFill>
                  <a:srgbClr val="FFFFFF"/>
                </a:solidFill>
                <a:latin typeface="Hanwha B"/>
                <a:ea typeface="Hanwha B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159000"/>
            <a:ext cx="5080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>
                <a:solidFill>
                  <a:srgbClr val="1A1A1A"/>
                </a:solidFill>
                <a:latin typeface="Hanwha B"/>
                <a:ea typeface="Hanwha B"/>
              </a:rPr>
              <a:t>라이브러리 설치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540000"/>
            <a:ext cx="10769600" cy="698500"/>
          </a:xfrm>
          <a:prstGeom prst="roundRect">
            <a:avLst>
              <a:gd name="adj" fmla="val 10909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2200" y="2692400"/>
            <a:ext cx="10414000" cy="393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75">
                <a:solidFill>
                  <a:srgbClr val="F2F2F2"/>
                </a:solidFill>
                <a:latin typeface="Consolas"/>
                <a:ea typeface="맑은 고딕"/>
              </a:rPr>
              <a:t>python --version          # 3.10 이상인지 확인
pip install google-genai</a:t>
            </a:r>
          </a:p>
        </p:txBody>
      </p:sp>
      <p:sp>
        <p:nvSpPr>
          <p:cNvPr id="15" name="Oval 14"/>
          <p:cNvSpPr/>
          <p:nvPr/>
        </p:nvSpPr>
        <p:spPr>
          <a:xfrm>
            <a:off x="508000" y="3492500"/>
            <a:ext cx="279400" cy="279400"/>
          </a:xfrm>
          <a:prstGeom prst="ellipse">
            <a:avLst/>
          </a:prstGeom>
          <a:solidFill>
            <a:srgbClr val="ED6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8000" y="3492500"/>
            <a:ext cx="2794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>
                <a:solidFill>
                  <a:srgbClr val="FFFFFF"/>
                </a:solidFill>
                <a:latin typeface="Hanwha B"/>
                <a:ea typeface="Hanwha B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492500"/>
            <a:ext cx="7620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>
                <a:solidFill>
                  <a:srgbClr val="1A1A1A"/>
                </a:solidFill>
                <a:latin typeface="Hanwha B"/>
                <a:ea typeface="Hanwha B"/>
              </a:rPr>
              <a:t>키를 환경변수 GEMINI_API_KEY 에 저장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10000"/>
            <a:ext cx="444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>
                <a:solidFill>
                  <a:srgbClr val="4A4A4A"/>
                </a:solidFill>
                <a:latin typeface="Hanwha B"/>
                <a:ea typeface="Hanwha B"/>
              </a:rPr>
              <a:t>Windows (명령 프롬프트)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159250"/>
            <a:ext cx="4445000" cy="698500"/>
          </a:xfrm>
          <a:prstGeom prst="roundRect">
            <a:avLst>
              <a:gd name="adj" fmla="val 10909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2200" y="4311650"/>
            <a:ext cx="4089400" cy="393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75">
                <a:solidFill>
                  <a:srgbClr val="F2F2F2"/>
                </a:solidFill>
                <a:latin typeface="Consolas"/>
                <a:ea typeface="맑은 고딕"/>
              </a:rPr>
              <a:t>setx GEMINI_API_KEY "복사한키"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88000" y="3810000"/>
            <a:ext cx="609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>
                <a:solidFill>
                  <a:srgbClr val="4A4A4A"/>
                </a:solidFill>
                <a:latin typeface="Hanwha B"/>
                <a:ea typeface="Hanwha B"/>
              </a:rPr>
              <a:t>Mac (터미널)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88000" y="4159250"/>
            <a:ext cx="6096000" cy="698500"/>
          </a:xfrm>
          <a:prstGeom prst="roundRect">
            <a:avLst>
              <a:gd name="adj" fmla="val 10909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5800" y="4311650"/>
            <a:ext cx="5740400" cy="393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75">
                <a:solidFill>
                  <a:srgbClr val="F2F2F2"/>
                </a:solidFill>
                <a:latin typeface="Consolas"/>
                <a:ea typeface="맑은 고딕"/>
              </a:rPr>
              <a:t>echo 'export GEMINI_API_KEY="복사한키"' &gt;&gt; ~/.zshrc
source ~/.zshrc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8000" y="5461000"/>
            <a:ext cx="11176000" cy="825500"/>
          </a:xfrm>
          <a:prstGeom prst="roundRect">
            <a:avLst>
              <a:gd name="adj" fmla="val 9230"/>
            </a:avLst>
          </a:prstGeom>
          <a:solidFill>
            <a:srgbClr val="FC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1200" y="5461000"/>
            <a:ext cx="107696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1A1A1A"/>
                </a:solidFill>
                <a:latin typeface="Hanwha R"/>
                <a:ea typeface="Hanwha R"/>
              </a:rPr>
              <a:t>Windows는 setx 를 실행한 뒤 명령 프롬프트 창을 닫고 새로 열어야 키가 적용됩니다.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8000"/>
          </a:xfrm>
          <a:prstGeom prst="rect">
            <a:avLst/>
          </a:prstGeom>
          <a:solidFill>
            <a:srgbClr val="FC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5300"/>
            <a:ext cx="12192000" cy="12700"/>
          </a:xfrm>
          <a:prstGeom prst="rect">
            <a:avLst/>
          </a:prstGeom>
          <a:solidFill>
            <a:srgbClr val="ED6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4000" y="0"/>
            <a:ext cx="5080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>
                <a:solidFill>
                  <a:srgbClr val="4A4A4A"/>
                </a:solidFill>
                <a:latin typeface="Hanwha R"/>
                <a:ea typeface="Hanwha R"/>
              </a:rPr>
              <a:t>Gemma 4 API 초보자 가이드</a:t>
            </a:r>
          </a:p>
        </p:txBody>
      </p:sp>
      <p:pic>
        <p:nvPicPr>
          <p:cNvPr id="5" name="Picture 4" descr="hanwha-signature-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5200" y="50800"/>
            <a:ext cx="812800" cy="406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68000" y="6604000"/>
            <a:ext cx="127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75">
                <a:solidFill>
                  <a:srgbClr val="9A9A9A"/>
                </a:solidFill>
                <a:latin typeface="Hanwha R"/>
                <a:ea typeface="Hanwha R"/>
              </a:rPr>
              <a:t>14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825500"/>
            <a:ext cx="11176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ED6F1F"/>
                </a:solidFill>
                <a:latin typeface="Hanwha B"/>
                <a:ea typeface="Hanwha B"/>
              </a:rPr>
              <a:t>4단계 · 첫 호출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1047750"/>
            <a:ext cx="11176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>
                <a:solidFill>
                  <a:srgbClr val="1A1A1A"/>
                </a:solidFill>
                <a:latin typeface="Hanwha B"/>
                <a:ea typeface="Hanwha B"/>
              </a:rPr>
              <a:t>첫 호출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1543050"/>
            <a:ext cx="11176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>
                <a:solidFill>
                  <a:srgbClr val="4A4A4A"/>
                </a:solidFill>
                <a:latin typeface="Hanwha R"/>
                <a:ea typeface="Hanwha R"/>
              </a:rPr>
              <a:t>아래 내용을 hello.py 로 저장하고 python hello.py 로 실행합니다.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000" y="2032000"/>
            <a:ext cx="6604000" cy="3048000"/>
          </a:xfrm>
          <a:prstGeom prst="roundRect">
            <a:avLst>
              <a:gd name="adj" fmla="val 2500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184400"/>
            <a:ext cx="62484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25">
                <a:solidFill>
                  <a:srgbClr val="F2F2F2"/>
                </a:solidFill>
                <a:latin typeface="Consolas"/>
                <a:ea typeface="맑은 고딕"/>
              </a:rPr>
              <a:t>from google import genai
client = genai.Client()  # 환경변수의 키를 자동으로 읽음
response = client.models.generate_content(
    model="gemma-4-26b-a4b-it",
    contents="점심 메뉴 3가지만 추천해줘",
)
print(response.text)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6000" y="2032000"/>
            <a:ext cx="4318000" cy="914400"/>
          </a:xfrm>
          <a:prstGeom prst="roundRect">
            <a:avLst>
              <a:gd name="adj" fmla="val 8333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69200" y="2197100"/>
            <a:ext cx="3937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>
                <a:solidFill>
                  <a:srgbClr val="D85A0E"/>
                </a:solidFill>
                <a:latin typeface="Consolas"/>
                <a:ea typeface="Consolas"/>
              </a:rPr>
              <a:t>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69200" y="2527300"/>
            <a:ext cx="3937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4A4A4A"/>
                </a:solidFill>
                <a:latin typeface="Hanwha R"/>
                <a:ea typeface="Hanwha R"/>
              </a:rPr>
              <a:t>어떤 모델에게 물을지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6000" y="3098800"/>
            <a:ext cx="4318000" cy="914400"/>
          </a:xfrm>
          <a:prstGeom prst="roundRect">
            <a:avLst>
              <a:gd name="adj" fmla="val 8333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69200" y="3263900"/>
            <a:ext cx="3937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>
                <a:solidFill>
                  <a:srgbClr val="D85A0E"/>
                </a:solidFill>
                <a:latin typeface="Consolas"/>
                <a:ea typeface="Consolas"/>
              </a:rPr>
              <a:t>contents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69200" y="3594100"/>
            <a:ext cx="3937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4A4A4A"/>
                </a:solidFill>
                <a:latin typeface="Hanwha R"/>
                <a:ea typeface="Hanwha R"/>
              </a:rPr>
              <a:t>보낼 질문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6000" y="4165600"/>
            <a:ext cx="4318000" cy="914400"/>
          </a:xfrm>
          <a:prstGeom prst="roundRect">
            <a:avLst>
              <a:gd name="adj" fmla="val 8333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9200" y="4330700"/>
            <a:ext cx="3937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>
                <a:solidFill>
                  <a:srgbClr val="D85A0E"/>
                </a:solidFill>
                <a:latin typeface="Consolas"/>
                <a:ea typeface="Consolas"/>
              </a:rPr>
              <a:t>response.text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69200" y="4660900"/>
            <a:ext cx="3937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4A4A4A"/>
                </a:solidFill>
                <a:latin typeface="Hanwha R"/>
                <a:ea typeface="Hanwha R"/>
              </a:rPr>
              <a:t>모델의 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8000" y="5461000"/>
            <a:ext cx="11176000" cy="825500"/>
          </a:xfrm>
          <a:prstGeom prst="roundRect">
            <a:avLst>
              <a:gd name="adj" fmla="val 9230"/>
            </a:avLst>
          </a:prstGeom>
          <a:solidFill>
            <a:srgbClr val="FC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1200" y="5461000"/>
            <a:ext cx="107696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1A1A1A"/>
                </a:solidFill>
                <a:latin typeface="Hanwha R"/>
                <a:ea typeface="Hanwha R"/>
              </a:rPr>
              <a:t>답이 화면에 출력되면 성공입니다. 오류가 나면 17쪽을 보세요.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8000"/>
          </a:xfrm>
          <a:prstGeom prst="rect">
            <a:avLst/>
          </a:prstGeom>
          <a:solidFill>
            <a:srgbClr val="FC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5300"/>
            <a:ext cx="12192000" cy="12700"/>
          </a:xfrm>
          <a:prstGeom prst="rect">
            <a:avLst/>
          </a:prstGeom>
          <a:solidFill>
            <a:srgbClr val="ED6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4000" y="0"/>
            <a:ext cx="5080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>
                <a:solidFill>
                  <a:srgbClr val="4A4A4A"/>
                </a:solidFill>
                <a:latin typeface="Hanwha R"/>
                <a:ea typeface="Hanwha R"/>
              </a:rPr>
              <a:t>Gemma 4 API 초보자 가이드</a:t>
            </a:r>
          </a:p>
        </p:txBody>
      </p:sp>
      <p:pic>
        <p:nvPicPr>
          <p:cNvPr id="5" name="Picture 4" descr="hanwha-signature-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5200" y="50800"/>
            <a:ext cx="812800" cy="406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68000" y="6604000"/>
            <a:ext cx="127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75">
                <a:solidFill>
                  <a:srgbClr val="9A9A9A"/>
                </a:solidFill>
                <a:latin typeface="Hanwha R"/>
                <a:ea typeface="Hanwha R"/>
              </a:rPr>
              <a:t>15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825500"/>
            <a:ext cx="11176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ED6F1F"/>
                </a:solidFill>
                <a:latin typeface="Hanwha B"/>
                <a:ea typeface="Hanwha B"/>
              </a:rPr>
              <a:t>더 써 보기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1047750"/>
            <a:ext cx="11176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>
                <a:solidFill>
                  <a:srgbClr val="1A1A1A"/>
                </a:solidFill>
                <a:latin typeface="Hanwha B"/>
                <a:ea typeface="Hanwha B"/>
              </a:rPr>
              <a:t>원하는 방식으로 답하게 하기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1543050"/>
            <a:ext cx="11176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>
                <a:solidFill>
                  <a:srgbClr val="4A4A4A"/>
                </a:solidFill>
                <a:latin typeface="Hanwha R"/>
                <a:ea typeface="Hanwha R"/>
              </a:rPr>
              <a:t>역할·말투를 정하고, 생각할지 말지 고릅니다.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000" y="2032000"/>
            <a:ext cx="6985000" cy="4381500"/>
          </a:xfrm>
          <a:prstGeom prst="roundRect">
            <a:avLst>
              <a:gd name="adj" fmla="val 1739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184400"/>
            <a:ext cx="6629400" cy="407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>
                <a:solidFill>
                  <a:srgbClr val="F2F2F2"/>
                </a:solidFill>
                <a:latin typeface="Consolas"/>
                <a:ea typeface="맑은 고딕"/>
              </a:rPr>
              <a:t>from google import genai
from google.genai import types
client = genai.Client()
config = types.GenerateContentConfig(
    system_instruction="인사팀 담당자처럼 5문장 이내로 답해",
    thinking_config=types.ThinkingConfig(thinking_level="high"),
)
response = client.models.generate_content(
    model="gemma-4-26b-a4b-it",
    contents="신입 사원 환영 메일 써줘",
    config=config,
)
print(response.text)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47000" y="2032000"/>
            <a:ext cx="3937000" cy="2032000"/>
          </a:xfrm>
          <a:prstGeom prst="roundRect">
            <a:avLst>
              <a:gd name="adj" fmla="val 375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0200" y="2222500"/>
            <a:ext cx="3556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>
                <a:solidFill>
                  <a:srgbClr val="D85A0E"/>
                </a:solidFill>
                <a:latin typeface="Consolas"/>
                <a:ea typeface="Consolas"/>
              </a:rPr>
              <a:t>system_instruction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0200" y="2603500"/>
            <a:ext cx="35306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>
                <a:solidFill>
                  <a:srgbClr val="4A4A4A"/>
                </a:solidFill>
                <a:latin typeface="Hanwha R"/>
                <a:ea typeface="Hanwha R"/>
              </a:rPr>
              <a:t>모델의 역할과 말투를 정합니다. 매 질문에 같은 규칙이 적용됩니다.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47000" y="4254500"/>
            <a:ext cx="3937000" cy="2159000"/>
          </a:xfrm>
          <a:prstGeom prst="roundRect">
            <a:avLst>
              <a:gd name="adj" fmla="val 3529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0200" y="4445000"/>
            <a:ext cx="3556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>
                <a:solidFill>
                  <a:srgbClr val="D85A0E"/>
                </a:solidFill>
                <a:latin typeface="Consolas"/>
                <a:ea typeface="Consolas"/>
              </a:rPr>
              <a:t>thinking_level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0200" y="4826000"/>
            <a:ext cx="3530600" cy="146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750"/>
              </a:spcAft>
            </a:pPr>
            <a:r>
              <a:rPr sz="1500">
                <a:solidFill>
                  <a:srgbClr val="4A4A4A"/>
                </a:solidFill>
                <a:latin typeface="Hanwha R"/>
                <a:ea typeface="Hanwha R"/>
              </a:rPr>
              <a:t>"high" 충분히 생각한 뒤 답합니다. 느리지만 꼼꼼합니다.</a:t>
            </a:r>
          </a:p>
          <a:p>
            <a:pPr algn="l">
              <a:lnSpc>
                <a:spcPct val="150000"/>
              </a:lnSpc>
            </a:pPr>
            <a:r>
              <a:rPr sz="1500">
                <a:solidFill>
                  <a:srgbClr val="4A4A4A"/>
                </a:solidFill>
                <a:latin typeface="Hanwha R"/>
                <a:ea typeface="Hanwha R"/>
              </a:rPr>
              <a:t>"minimal" 생각 없이 바로 답합니다.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8000"/>
          </a:xfrm>
          <a:prstGeom prst="rect">
            <a:avLst/>
          </a:prstGeom>
          <a:solidFill>
            <a:srgbClr val="FC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5300"/>
            <a:ext cx="12192000" cy="12700"/>
          </a:xfrm>
          <a:prstGeom prst="rect">
            <a:avLst/>
          </a:prstGeom>
          <a:solidFill>
            <a:srgbClr val="ED6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4000" y="0"/>
            <a:ext cx="5080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>
                <a:solidFill>
                  <a:srgbClr val="4A4A4A"/>
                </a:solidFill>
                <a:latin typeface="Hanwha R"/>
                <a:ea typeface="Hanwha R"/>
              </a:rPr>
              <a:t>Gemma 4 API 초보자 가이드</a:t>
            </a:r>
          </a:p>
        </p:txBody>
      </p:sp>
      <p:pic>
        <p:nvPicPr>
          <p:cNvPr id="5" name="Picture 4" descr="hanwha-signature-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5200" y="50800"/>
            <a:ext cx="812800" cy="406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68000" y="6604000"/>
            <a:ext cx="127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75">
                <a:solidFill>
                  <a:srgbClr val="9A9A9A"/>
                </a:solidFill>
                <a:latin typeface="Hanwha R"/>
                <a:ea typeface="Hanwha R"/>
              </a:rPr>
              <a:t>16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825500"/>
            <a:ext cx="11176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ED6F1F"/>
                </a:solidFill>
                <a:latin typeface="Hanwha B"/>
                <a:ea typeface="Hanwha B"/>
              </a:rPr>
              <a:t>더 써 보기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1047750"/>
            <a:ext cx="11176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>
                <a:solidFill>
                  <a:srgbClr val="1A1A1A"/>
                </a:solidFill>
                <a:latin typeface="Hanwha B"/>
                <a:ea typeface="Hanwha B"/>
              </a:rPr>
              <a:t>이미지 묻기 · 대화 이어가기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1543050"/>
            <a:ext cx="11176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>
                <a:solidFill>
                  <a:srgbClr val="4A4A4A"/>
                </a:solidFill>
                <a:latin typeface="Hanwha R"/>
                <a:ea typeface="Hanwha R"/>
              </a:rPr>
              <a:t>아래 코드는 client = genai.Client() 다음에 이어서 씁니다.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8000" y="2095500"/>
            <a:ext cx="546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>
                <a:solidFill>
                  <a:srgbClr val="1A1A1A"/>
                </a:solidFill>
                <a:latin typeface="Hanwha B"/>
                <a:ea typeface="Hanwha B"/>
              </a:rPr>
              <a:t>이미지에 대해 묻기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8000" y="2508250"/>
            <a:ext cx="5461000" cy="2667000"/>
          </a:xfrm>
          <a:prstGeom prst="roundRect">
            <a:avLst>
              <a:gd name="adj" fmla="val 2857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660650"/>
            <a:ext cx="5105400" cy="2362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F2F2F2"/>
                </a:solidFill>
                <a:latin typeface="Consolas"/>
                <a:ea typeface="맑은 고딕"/>
              </a:rPr>
              <a:t>my_file = client.files.upload(file="chart.png")
response = client.models.generate_content(
    model="gemma-4-26b-a4b-it",
    contents=[my_file, "이 그래프를 한 줄로 요약해줘"],
)
print(response.text)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23000" y="2095500"/>
            <a:ext cx="5461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>
                <a:solidFill>
                  <a:srgbClr val="1A1A1A"/>
                </a:solidFill>
                <a:latin typeface="Hanwha B"/>
                <a:ea typeface="Hanwha B"/>
              </a:rPr>
              <a:t>대화 이어가기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23000" y="2508250"/>
            <a:ext cx="5461000" cy="2667000"/>
          </a:xfrm>
          <a:prstGeom prst="roundRect">
            <a:avLst>
              <a:gd name="adj" fmla="val 2857"/>
            </a:avLst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660650"/>
            <a:ext cx="5105400" cy="2362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F2F2F2"/>
                </a:solidFill>
                <a:latin typeface="Consolas"/>
                <a:ea typeface="맑은 고딕"/>
              </a:rPr>
              <a:t>chat = client.chats.create(
    model="gemma-4-26b-a4b-it")
r1 = chat.send_message("제주도 여행지 3곳 추천해줘")
print(r1.text)
r2 = chat.send_message("그중 비 오는 날 갈 곳은?")
print(r2.text)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8000" y="5461000"/>
            <a:ext cx="11176000" cy="825500"/>
          </a:xfrm>
          <a:prstGeom prst="roundRect">
            <a:avLst>
              <a:gd name="adj" fmla="val 9230"/>
            </a:avLst>
          </a:prstGeom>
          <a:solidFill>
            <a:srgbClr val="FC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1200" y="5461000"/>
            <a:ext cx="107696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1A1A1A"/>
                </a:solidFill>
                <a:latin typeface="Hanwha R"/>
                <a:ea typeface="Hanwha R"/>
              </a:rPr>
              <a:t>chat 은 앞의 대화를 기억합니다. 두 번째 질문의 "그중"이 무엇을 가리키는지 모델이 압니다.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8000"/>
          </a:xfrm>
          <a:prstGeom prst="rect">
            <a:avLst/>
          </a:prstGeom>
          <a:solidFill>
            <a:srgbClr val="FC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5300"/>
            <a:ext cx="12192000" cy="12700"/>
          </a:xfrm>
          <a:prstGeom prst="rect">
            <a:avLst/>
          </a:prstGeom>
          <a:solidFill>
            <a:srgbClr val="ED6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4000" y="0"/>
            <a:ext cx="5080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>
                <a:solidFill>
                  <a:srgbClr val="4A4A4A"/>
                </a:solidFill>
                <a:latin typeface="Hanwha R"/>
                <a:ea typeface="Hanwha R"/>
              </a:rPr>
              <a:t>Gemma 4 API 초보자 가이드</a:t>
            </a:r>
          </a:p>
        </p:txBody>
      </p:sp>
      <p:pic>
        <p:nvPicPr>
          <p:cNvPr id="5" name="Picture 4" descr="hanwha-signature-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5200" y="50800"/>
            <a:ext cx="812800" cy="406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68000" y="6604000"/>
            <a:ext cx="127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75">
                <a:solidFill>
                  <a:srgbClr val="9A9A9A"/>
                </a:solidFill>
                <a:latin typeface="Hanwha R"/>
                <a:ea typeface="Hanwha R"/>
              </a:rPr>
              <a:t>17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825500"/>
            <a:ext cx="11176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ED6F1F"/>
                </a:solidFill>
                <a:latin typeface="Hanwha B"/>
                <a:ea typeface="Hanwha B"/>
              </a:rPr>
              <a:t>문제 해결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1047750"/>
            <a:ext cx="11176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>
                <a:solidFill>
                  <a:srgbClr val="1A1A1A"/>
                </a:solidFill>
                <a:latin typeface="Hanwha B"/>
                <a:ea typeface="Hanwha B"/>
              </a:rPr>
              <a:t>오류가 나면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1543050"/>
            <a:ext cx="11176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>
                <a:solidFill>
                  <a:srgbClr val="4A4A4A"/>
                </a:solidFill>
                <a:latin typeface="Hanwha R"/>
                <a:ea typeface="Hanwha R"/>
              </a:rPr>
              <a:t>메시지를 보고 아래 표에서 찾으세요.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8000" y="2032000"/>
          <a:ext cx="11176000" cy="2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7000"/>
                <a:gridCol w="2413000"/>
                <a:gridCol w="4826000"/>
              </a:tblGrid>
              <a:tr h="508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Hanwha B"/>
                          <a:ea typeface="Hanwha B"/>
                        </a:rPr>
                        <a:t>오류 메시지</a:t>
                      </a:r>
                    </a:p>
                  </a:txBody>
                  <a:tcPr anchor="ctr" marL="152400">
                    <a:solidFill>
                      <a:srgbClr val="FCE6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Hanwha B"/>
                          <a:ea typeface="Hanwha B"/>
                        </a:rPr>
                        <a:t>뜻</a:t>
                      </a:r>
                    </a:p>
                  </a:txBody>
                  <a:tcPr anchor="ctr" marL="152400">
                    <a:solidFill>
                      <a:srgbClr val="FCE6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Hanwha B"/>
                          <a:ea typeface="Hanwha B"/>
                        </a:rPr>
                        <a:t>해결</a:t>
                      </a:r>
                    </a:p>
                  </a:txBody>
                  <a:tcPr anchor="ctr" marL="152400">
                    <a:solidFill>
                      <a:srgbClr val="FCE6D6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onsolas"/>
                          <a:ea typeface="맑은 고딕"/>
                        </a:rPr>
                        <a:t>No API key was provided</a:t>
                      </a:r>
                    </a:p>
                  </a:txBody>
                  <a:tcPr anchor="ctr" marL="152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4A4A4A"/>
                          </a:solidFill>
                          <a:latin typeface="Hanwha R"/>
                          <a:ea typeface="Hanwha R"/>
                        </a:rPr>
                        <a:t>키를 못 찾음</a:t>
                      </a:r>
                    </a:p>
                  </a:txBody>
                  <a:tcPr anchor="ctr" marL="152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4A4A4A"/>
                          </a:solidFill>
                          <a:latin typeface="Hanwha R"/>
                          <a:ea typeface="Hanwha R"/>
                        </a:rPr>
                        <a:t>3단계 환경변수 설정 확인, 터미널 새로 열기</a:t>
                      </a:r>
                    </a:p>
                  </a:txBody>
                  <a:tcPr anchor="ctr" marL="152400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onsolas"/>
                          <a:ea typeface="맑은 고딕"/>
                        </a:rPr>
                        <a:t>400  API key not valid</a:t>
                      </a:r>
                    </a:p>
                  </a:txBody>
                  <a:tcPr anchor="ctr" marL="152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4A4A4A"/>
                          </a:solidFill>
                          <a:latin typeface="Hanwha R"/>
                          <a:ea typeface="Hanwha R"/>
                        </a:rPr>
                        <a:t>키가 틀림</a:t>
                      </a:r>
                    </a:p>
                  </a:txBody>
                  <a:tcPr anchor="ctr" marL="152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4A4A4A"/>
                          </a:solidFill>
                          <a:latin typeface="Hanwha R"/>
                          <a:ea typeface="Hanwha R"/>
                        </a:rPr>
                        <a:t>키를 다시 복사해 저장</a:t>
                      </a:r>
                    </a:p>
                  </a:txBody>
                  <a:tcPr anchor="ctr" marL="152400">
                    <a:solidFill>
                      <a:srgbClr val="F5F5F5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onsolas"/>
                          <a:ea typeface="맑은 고딕"/>
                        </a:rPr>
                        <a:t>429  RESOURCE_EXHAUSTED</a:t>
                      </a:r>
                    </a:p>
                  </a:txBody>
                  <a:tcPr anchor="ctr" marL="152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4A4A4A"/>
                          </a:solidFill>
                          <a:latin typeface="Hanwha R"/>
                          <a:ea typeface="Hanwha R"/>
                        </a:rPr>
                        <a:t>사용량 한도 초과</a:t>
                      </a:r>
                    </a:p>
                  </a:txBody>
                  <a:tcPr anchor="ctr" marL="152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4A4A4A"/>
                          </a:solidFill>
                          <a:latin typeface="Hanwha R"/>
                          <a:ea typeface="Hanwha R"/>
                        </a:rPr>
                        <a:t>1분쯤 뒤 재시도. 하루 한도 초과면 다음 날</a:t>
                      </a:r>
                    </a:p>
                  </a:txBody>
                  <a:tcPr anchor="ctr" marL="152400"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onsolas"/>
                          <a:ea typeface="맑은 고딕"/>
                        </a:rPr>
                        <a:t>500 · 503</a:t>
                      </a:r>
                    </a:p>
                  </a:txBody>
                  <a:tcPr anchor="ctr" marL="152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4A4A4A"/>
                          </a:solidFill>
                          <a:latin typeface="Hanwha R"/>
                          <a:ea typeface="Hanwha R"/>
                        </a:rPr>
                        <a:t>구글 서버 일시 문제</a:t>
                      </a:r>
                    </a:p>
                  </a:txBody>
                  <a:tcPr anchor="ctr" marL="152400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4A4A4A"/>
                          </a:solidFill>
                          <a:latin typeface="Hanwha R"/>
                          <a:ea typeface="Hanwha R"/>
                        </a:rPr>
                        <a:t>잠시 뒤 다시 시도</a:t>
                      </a:r>
                    </a:p>
                  </a:txBody>
                  <a:tcPr anchor="ctr" marL="152400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08000" y="5461000"/>
            <a:ext cx="11176000" cy="825500"/>
          </a:xfrm>
          <a:prstGeom prst="roundRect">
            <a:avLst>
              <a:gd name="adj" fmla="val 9230"/>
            </a:avLst>
          </a:prstGeom>
          <a:solidFill>
            <a:srgbClr val="FC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1200" y="5461000"/>
            <a:ext cx="107696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1A1A1A"/>
                </a:solidFill>
                <a:latin typeface="Hanwha R"/>
                <a:ea typeface="Hanwha R"/>
              </a:rPr>
              <a:t>그래도 안 되면 오류 메시지 전체를 복사해 담당자에게 보내 주세요. API 키는 빼고 보냅니다.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08000"/>
          </a:xfrm>
          <a:prstGeom prst="rect">
            <a:avLst/>
          </a:prstGeom>
          <a:solidFill>
            <a:srgbClr val="FC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95300"/>
            <a:ext cx="12192000" cy="12700"/>
          </a:xfrm>
          <a:prstGeom prst="rect">
            <a:avLst/>
          </a:prstGeom>
          <a:solidFill>
            <a:srgbClr val="ED6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4000" y="0"/>
            <a:ext cx="5080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>
                <a:solidFill>
                  <a:srgbClr val="4A4A4A"/>
                </a:solidFill>
                <a:latin typeface="Hanwha R"/>
                <a:ea typeface="Hanwha R"/>
              </a:rPr>
              <a:t>Gemma 4 API 초보자 가이드</a:t>
            </a:r>
          </a:p>
        </p:txBody>
      </p:sp>
      <p:pic>
        <p:nvPicPr>
          <p:cNvPr id="5" name="Picture 4" descr="hanwha-signature-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5200" y="50800"/>
            <a:ext cx="812800" cy="406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68000" y="6604000"/>
            <a:ext cx="127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975">
                <a:solidFill>
                  <a:srgbClr val="9A9A9A"/>
                </a:solidFill>
                <a:latin typeface="Hanwha R"/>
                <a:ea typeface="Hanwha R"/>
              </a:rPr>
              <a:t>18 /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825500"/>
            <a:ext cx="11176000" cy="177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ED6F1F"/>
                </a:solidFill>
                <a:latin typeface="Hanwha B"/>
                <a:ea typeface="Hanwha B"/>
              </a:rPr>
              <a:t>마무리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1047750"/>
            <a:ext cx="11176000" cy="48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>
                <a:solidFill>
                  <a:srgbClr val="ED6F1F"/>
                </a:solidFill>
                <a:latin typeface="Hanwha B"/>
                <a:ea typeface="Hanwha B"/>
              </a:rPr>
              <a:t>정리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2095500"/>
            <a:ext cx="111760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1200"/>
              </a:spcAft>
            </a:pPr>
            <a:r>
              <a:rPr sz="1950">
                <a:solidFill>
                  <a:srgbClr val="1A1A1A"/>
                </a:solidFill>
                <a:latin typeface="Hanwha R"/>
                <a:ea typeface="Hanwha R"/>
              </a:rPr>
              <a:t>AI Studio에서 먼저 써 보고, 필요할 때 API 키를 발급합니다</a:t>
            </a:r>
          </a:p>
          <a:p>
            <a:pPr algn="l">
              <a:lnSpc>
                <a:spcPct val="140000"/>
              </a:lnSpc>
              <a:spcAft>
                <a:spcPts val="1200"/>
              </a:spcAft>
            </a:pPr>
            <a:r>
              <a:rPr sz="1950">
                <a:solidFill>
                  <a:srgbClr val="1A1A1A"/>
                </a:solidFill>
                <a:latin typeface="Hanwha R"/>
                <a:ea typeface="Hanwha R"/>
              </a:rPr>
              <a:t>키는 환경변수에 두고 코드에는 넣지 않습니다</a:t>
            </a:r>
          </a:p>
          <a:p>
            <a:pPr algn="l">
              <a:lnSpc>
                <a:spcPct val="140000"/>
              </a:lnSpc>
            </a:pPr>
            <a:r>
              <a:rPr sz="1950">
                <a:solidFill>
                  <a:srgbClr val="1A1A1A"/>
                </a:solidFill>
                <a:latin typeface="Hanwha R"/>
                <a:ea typeface="Hanwha R"/>
              </a:rPr>
              <a:t>무료지만 한도가 있고, 입력 내용이 구글 제품 개선에 쓰일 수 있습니다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000" y="4318000"/>
            <a:ext cx="11176000" cy="2095500"/>
          </a:xfrm>
          <a:prstGeom prst="roundRect">
            <a:avLst>
              <a:gd name="adj" fmla="val 4242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4540250"/>
            <a:ext cx="5080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>
                <a:solidFill>
                  <a:srgbClr val="D85A0E"/>
                </a:solidFill>
                <a:latin typeface="Hanwha B"/>
                <a:ea typeface="Hanwha B"/>
              </a:rPr>
              <a:t>참고 링크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492125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4A4A4A"/>
                </a:solidFill>
                <a:latin typeface="Hanwha B"/>
                <a:ea typeface="Hanwha B"/>
              </a:rPr>
              <a:t>AI Studio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94000" y="4921250"/>
            <a:ext cx="825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1A1A1A"/>
                </a:solidFill>
                <a:latin typeface="Consolas"/>
                <a:ea typeface="맑은 고딕"/>
              </a:rPr>
              <a:t>aistudio.google.com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526415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4A4A4A"/>
                </a:solidFill>
                <a:latin typeface="Hanwha B"/>
                <a:ea typeface="Hanwha B"/>
              </a:rPr>
              <a:t>API 키 안내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94000" y="5264150"/>
            <a:ext cx="825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1A1A1A"/>
                </a:solidFill>
                <a:latin typeface="Consolas"/>
                <a:ea typeface="맑은 고딕"/>
              </a:rPr>
              <a:t>ai.google.dev/gemini-api/docs/api-key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560705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4A4A4A"/>
                </a:solidFill>
                <a:latin typeface="Hanwha B"/>
                <a:ea typeface="Hanwha B"/>
              </a:rPr>
              <a:t>요금·무료 조건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94000" y="5607050"/>
            <a:ext cx="825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1A1A1A"/>
                </a:solidFill>
                <a:latin typeface="Consolas"/>
                <a:ea typeface="맑은 고딕"/>
              </a:rPr>
              <a:t>ai.google.dev/gemini-api/docs/pricing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594995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4A4A4A"/>
                </a:solidFill>
                <a:latin typeface="Hanwha B"/>
                <a:ea typeface="Hanwha B"/>
              </a:rPr>
              <a:t>사용량 한도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94000" y="5949950"/>
            <a:ext cx="825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1A1A1A"/>
                </a:solidFill>
                <a:latin typeface="Consolas"/>
                <a:ea typeface="맑은 고딕"/>
              </a:rPr>
              <a:t>ai.google.dev/gemini-api/docs/rate-limits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
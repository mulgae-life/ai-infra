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embeddedFontLst>
    <p:embeddedFont>
      <p:font typeface="Hanwha R"/>
      <p:regular r:id="rId1001"/>
    </p:embeddedFont>
    <p:embeddedFont>
      <p:font typeface="Hanwha B"/>
      <p:regular r:id="rId1002"/>
    </p:embeddedFont>
    <p:embeddedFont>
      <p:font typeface="Hanwha L"/>
      <p:regular r:id="rId100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1001" Type="http://schemas.openxmlformats.org/officeDocument/2006/relationships/font" Target="fonts/font1.fntdata"/><Relationship Id="rId1002" Type="http://schemas.openxmlformats.org/officeDocument/2006/relationships/font" Target="fonts/font2.fntdata"/><Relationship Id="rId100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207000" cy="68580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07000" y="0"/>
            <a:ext cx="6985000" cy="6858000"/>
          </a:xfrm>
          <a:prstGeom prst="rect">
            <a:avLst/>
          </a:prstGeom>
          <a:solidFill>
            <a:srgbClr val="F1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525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초보자용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335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>
                <a:solidFill>
                  <a:srgbClr val="FFFFFF"/>
                </a:solidFill>
                <a:latin typeface="Hanwha B"/>
                <a:ea typeface="Hanwha B"/>
              </a:rPr>
              <a:t>Gemma 4 API</a:t>
            </a:r>
          </a:p>
          <a:p>
            <a:pPr algn="l">
              <a:lnSpc>
                <a:spcPct val="105000"/>
              </a:lnSpc>
            </a:pPr>
            <a:r>
              <a:rPr sz="4200">
                <a:solidFill>
                  <a:srgbClr val="FFFFFF"/>
                </a:solidFill>
                <a:latin typeface="Hanwha B"/>
                <a:ea typeface="Hanwha B"/>
              </a:rPr>
              <a:t>시작하기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94000"/>
            <a:ext cx="762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48000"/>
            <a:ext cx="444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25">
                <a:solidFill>
                  <a:srgbClr val="FFFFFF"/>
                </a:solidFill>
                <a:latin typeface="Hanwha R"/>
                <a:ea typeface="Hanwha R"/>
              </a:rPr>
              <a:t>구글 AI Studio에서 Gemma 4를 무료로 쓰는 방법을 화면 순서대로 따라 할 수 있게 정리했습니다.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990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anwha L"/>
                <a:ea typeface="Hanwha 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600" y="46990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anwha B"/>
                <a:ea typeface="Hanwha B"/>
              </a:rPr>
              <a:t>AI Studio에서 써 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anwha L"/>
                <a:ea typeface="Hanwha 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50292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anwha B"/>
                <a:ea typeface="Hanwha B"/>
              </a:rPr>
              <a:t>API 키 발급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594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anwha L"/>
                <a:ea typeface="Hanwha 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53594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anwha B"/>
                <a:ea typeface="Hanwha B"/>
              </a:rPr>
              <a:t>PC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896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anwha L"/>
                <a:ea typeface="Hanwha 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600" y="56896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anwha B"/>
                <a:ea typeface="Hanwha B"/>
              </a:rPr>
              <a:t>첫 호출</a:t>
            </a:r>
          </a:p>
        </p:txBody>
      </p:sp>
      <p:pic>
        <p:nvPicPr>
          <p:cNvPr id="16" name="Picture 15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59016"/>
            <a:ext cx="5969000" cy="506696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715000" y="959016"/>
            <a:ext cx="5969000" cy="5066968"/>
          </a:xfrm>
          <a:prstGeom prst="rect">
            <a:avLst/>
          </a:prstGeom>
          <a:noFill/>
          <a:ln w="9525">
            <a:solidFill>
              <a:srgbClr val="D6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786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FFFFFF"/>
                </a:solidFill>
                <a:latin typeface="Hanwha R"/>
                <a:ea typeface="Hanwha R"/>
              </a:rPr>
              <a:t>2026. 10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228600"/>
            <a:ext cx="609600" cy="30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4897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786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600" y="65913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Gemma 4 API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6800" y="6591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73100"/>
            <a:ext cx="177800" cy="254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609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시작하기 전에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89000"/>
            <a:ext cx="11277600" cy="461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>
                <a:solidFill>
                  <a:srgbClr val="1A1A1A"/>
                </a:solidFill>
                <a:latin typeface="Hanwha B"/>
                <a:ea typeface="Hanwha B"/>
              </a:rPr>
              <a:t>Gemma 4 한눈에 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38910"/>
            <a:ext cx="112776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구글이 공개한 AI 모델입니다. 글을 쓰고 요약하며 이미지도 이해하고, 한국어로 묻고 답합니다.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075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9A9A9A"/>
                </a:solidFill>
                <a:latin typeface="Hanwha B"/>
                <a:ea typeface="Hanwha B"/>
              </a:rPr>
              <a:t>쓸 수 있는 모델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08250"/>
            <a:ext cx="52070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73350"/>
            <a:ext cx="5207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25">
                <a:solidFill>
                  <a:srgbClr val="D85A0E"/>
                </a:solidFill>
                <a:latin typeface="Consolas"/>
                <a:ea typeface="Consolas"/>
              </a:rPr>
              <a:t>gemma-4-26b-a4b-it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28950"/>
            <a:ext cx="5207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가볍고 빠릅니다. 처음엔 이 모델로 시작하세요.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97250"/>
            <a:ext cx="52070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62350"/>
            <a:ext cx="5207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25">
                <a:solidFill>
                  <a:srgbClr val="1A1A1A"/>
                </a:solidFill>
                <a:latin typeface="Consolas"/>
                <a:ea typeface="Consolas"/>
              </a:rPr>
              <a:t>gemma-4-31b-it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17950"/>
            <a:ext cx="5207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더 크고 꼼꼼합니다. 답이 조금 느립니다.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86250"/>
            <a:ext cx="52070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0" y="219075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9A9A9A"/>
                </a:solidFill>
                <a:latin typeface="Hanwha B"/>
                <a:ea typeface="Hanwha B"/>
              </a:rPr>
              <a:t>알아둘 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2508250"/>
            <a:ext cx="53848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0" y="2660650"/>
            <a:ext cx="538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무료지만 한도가 있습니다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2965450"/>
            <a:ext cx="53848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1분당, 하루당 요청 수에 한도가 있어서 넘으면 잠시 막힙니다. 계정에 따라 결제 연결을 요구하기도 합니다(12쪽).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97250"/>
            <a:ext cx="53848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0" y="3549650"/>
            <a:ext cx="538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D85A0E"/>
                </a:solidFill>
                <a:latin typeface="Hanwha B"/>
                <a:ea typeface="Hanwha B"/>
              </a:rPr>
              <a:t>회사 자료는 넣지 마세요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0" y="3854450"/>
            <a:ext cx="53848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무료 등급에 입력한 내용은 구글 제품 개선에 쓰일 수 있습니다.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4286250"/>
            <a:ext cx="53848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073650"/>
            <a:ext cx="112776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016500"/>
            <a:ext cx="127000" cy="127000"/>
          </a:xfrm>
          <a:prstGeom prst="ellipse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705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>
                <a:solidFill>
                  <a:srgbClr val="ED6F1F"/>
                </a:solidFill>
                <a:latin typeface="Hanwha B"/>
                <a:ea typeface="Hanwha B"/>
              </a:rPr>
              <a:t>1단계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864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AI Studio에서 써 보기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531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4A4A4A"/>
                </a:solidFill>
                <a:latin typeface="Hanwha R"/>
                <a:ea typeface="Hanwha R"/>
              </a:rPr>
              <a:t>코드 없이 화면에서 질문</a:t>
            </a:r>
          </a:p>
        </p:txBody>
      </p:sp>
      <p:sp>
        <p:nvSpPr>
          <p:cNvPr id="32" name="Oval 31"/>
          <p:cNvSpPr/>
          <p:nvPr/>
        </p:nvSpPr>
        <p:spPr>
          <a:xfrm>
            <a:off x="3276600" y="5016500"/>
            <a:ext cx="127000" cy="127000"/>
          </a:xfrm>
          <a:prstGeom prst="ellipse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52705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>
                <a:solidFill>
                  <a:srgbClr val="ED6F1F"/>
                </a:solidFill>
                <a:latin typeface="Hanwha B"/>
                <a:ea typeface="Hanwha B"/>
              </a:rPr>
              <a:t>2단계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6600" y="54864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API 키 발급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76600" y="57531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4A4A4A"/>
                </a:solidFill>
                <a:latin typeface="Hanwha R"/>
                <a:ea typeface="Hanwha R"/>
              </a:rPr>
              <a:t>내 코드가 쓸 비밀번호</a:t>
            </a:r>
          </a:p>
        </p:txBody>
      </p:sp>
      <p:sp>
        <p:nvSpPr>
          <p:cNvPr id="36" name="Oval 35"/>
          <p:cNvSpPr/>
          <p:nvPr/>
        </p:nvSpPr>
        <p:spPr>
          <a:xfrm>
            <a:off x="6096000" y="5016500"/>
            <a:ext cx="127000" cy="127000"/>
          </a:xfrm>
          <a:prstGeom prst="ellipse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0" y="52705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>
                <a:solidFill>
                  <a:srgbClr val="ED6F1F"/>
                </a:solidFill>
                <a:latin typeface="Hanwha B"/>
                <a:ea typeface="Hanwha B"/>
              </a:rPr>
              <a:t>3단계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0" y="54864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PC 준비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0" y="57531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4A4A4A"/>
                </a:solidFill>
                <a:latin typeface="Hanwha R"/>
                <a:ea typeface="Hanwha R"/>
              </a:rPr>
              <a:t>Python과 라이브러리 설치</a:t>
            </a:r>
          </a:p>
        </p:txBody>
      </p:sp>
      <p:sp>
        <p:nvSpPr>
          <p:cNvPr id="40" name="Oval 39"/>
          <p:cNvSpPr/>
          <p:nvPr/>
        </p:nvSpPr>
        <p:spPr>
          <a:xfrm>
            <a:off x="8915400" y="5016500"/>
            <a:ext cx="127000" cy="127000"/>
          </a:xfrm>
          <a:prstGeom prst="ellipse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52705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>
                <a:solidFill>
                  <a:srgbClr val="ED6F1F"/>
                </a:solidFill>
                <a:latin typeface="Hanwha B"/>
                <a:ea typeface="Hanwha B"/>
              </a:rPr>
              <a:t>4단계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54864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첫 호출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57531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4A4A4A"/>
                </a:solidFill>
                <a:latin typeface="Hanwha R"/>
                <a:ea typeface="Hanwha R"/>
              </a:rPr>
              <a:t>코드 몇 줄로 답 받기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172200"/>
            <a:ext cx="11277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9A9A9A"/>
                </a:solidFill>
                <a:latin typeface="Hanwha R"/>
                <a:ea typeface="Hanwha R"/>
              </a:rPr>
              <a:t>1단계만 해도 Gemma 4를 쓸 수 있습니다. 내 프로그램에 붙일 때 2~4단계를 이어서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rgbClr val="F1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1_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357798"/>
            <a:ext cx="7035800" cy="40154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5600" y="1357798"/>
            <a:ext cx="7035800" cy="4015403"/>
          </a:xfrm>
          <a:prstGeom prst="rect">
            <a:avLst/>
          </a:prstGeom>
          <a:noFill/>
          <a:ln w="9525">
            <a:solidFill>
              <a:srgbClr val="D6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0" y="228600"/>
            <a:ext cx="609600" cy="30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64897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786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65913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Gemma 4 API 시작하기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6800" y="6591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1500" y="673100"/>
            <a:ext cx="177800" cy="254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5500" y="609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1단계 · 코드 없이 써 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889000"/>
            <a:ext cx="3543300" cy="10687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50">
                <a:solidFill>
                  <a:srgbClr val="1A1A1A"/>
                </a:solidFill>
                <a:latin typeface="Hanwha B"/>
                <a:ea typeface="Hanwha B"/>
              </a:rPr>
              <a:t>AI Studio에서 Playground 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2046605"/>
            <a:ext cx="3543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aistudio.google.com에 들어가 구글 계정으로 로그인합니다.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1500" y="2834005"/>
            <a:ext cx="35433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1500" y="2922905"/>
            <a:ext cx="31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>
                <a:solidFill>
                  <a:srgbClr val="E53935"/>
                </a:solidFill>
                <a:latin typeface="Hanwha L"/>
                <a:ea typeface="Hanwha 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7100" y="2973705"/>
            <a:ext cx="31877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Playground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7100" y="3253105"/>
            <a:ext cx="3187700" cy="234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왼쪽 메뉴에 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1500" y="3640296"/>
            <a:ext cx="35433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3729196"/>
            <a:ext cx="31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>
                <a:solidFill>
                  <a:srgbClr val="E53935"/>
                </a:solidFill>
                <a:latin typeface="Hanwha L"/>
                <a:ea typeface="Hanwha 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7100" y="3779996"/>
            <a:ext cx="31877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모델 이름 클릭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7100" y="4059396"/>
            <a:ext cx="3187700" cy="469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오른쪽 Run settings 맨 위를 누르면 모델 목록이 열립니다.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1500" y="5391626"/>
            <a:ext cx="35433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1500" y="5505926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>
                <a:solidFill>
                  <a:srgbClr val="ED6F1F"/>
                </a:solidFill>
                <a:latin typeface="Hanwha B"/>
                <a:ea typeface="Hanwha B"/>
              </a:rPr>
              <a:t>참고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8700" y="5493226"/>
            <a:ext cx="3086100" cy="704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처음 들어가면 소개 화면이 나옵니다. 오른쪽 위 Get started를 누르고 로그인하면 이 화면으로 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rgbClr val="F1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1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357798"/>
            <a:ext cx="7035800" cy="40154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5600" y="1357798"/>
            <a:ext cx="7035800" cy="4015403"/>
          </a:xfrm>
          <a:prstGeom prst="rect">
            <a:avLst/>
          </a:prstGeom>
          <a:noFill/>
          <a:ln w="9525">
            <a:solidFill>
              <a:srgbClr val="D6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0" y="228600"/>
            <a:ext cx="609600" cy="30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64897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786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65913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Gemma 4 API 시작하기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6800" y="6591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1500" y="673100"/>
            <a:ext cx="177800" cy="254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5500" y="609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1단계 · 코드 없이 써 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889000"/>
            <a:ext cx="3543300" cy="712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50">
                <a:solidFill>
                  <a:srgbClr val="1A1A1A"/>
                </a:solidFill>
                <a:latin typeface="Hanwha B"/>
                <a:ea typeface="Hanwha B"/>
              </a:rPr>
              <a:t>Gemma 4 모델 고르기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1690370"/>
            <a:ext cx="3543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모델 목록에서 Gemma 탭을 누르고 Gemma 4를 고릅니다.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1500" y="2477770"/>
            <a:ext cx="35433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1500" y="2566670"/>
            <a:ext cx="31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>
                <a:solidFill>
                  <a:srgbClr val="E53935"/>
                </a:solidFill>
                <a:latin typeface="Hanwha L"/>
                <a:ea typeface="Hanwha 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7100" y="2617470"/>
            <a:ext cx="31877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Gemma 탭 클릭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1500" y="3049270"/>
            <a:ext cx="35433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1500" y="3138170"/>
            <a:ext cx="31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>
                <a:solidFill>
                  <a:srgbClr val="E53935"/>
                </a:solidFill>
                <a:latin typeface="Hanwha L"/>
                <a:ea typeface="Hanwha 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7100" y="3188970"/>
            <a:ext cx="31877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Gemma 4 26B A4B IT 클릭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7100" y="3468370"/>
            <a:ext cx="3187700" cy="234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가볍고 빠른 모델입니다.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1500" y="5626418"/>
            <a:ext cx="35433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500" y="5740718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>
                <a:solidFill>
                  <a:srgbClr val="ED6F1F"/>
                </a:solidFill>
                <a:latin typeface="Hanwha B"/>
                <a:ea typeface="Hanwha B"/>
              </a:rPr>
              <a:t>참고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8700" y="5728018"/>
            <a:ext cx="3086100" cy="469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더 꼼꼼한 답이 필요하면 바로 아래 Gemma 4 31B IT를 고릅니다.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rgbClr val="F1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1_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357798"/>
            <a:ext cx="7035800" cy="40154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5600" y="1357798"/>
            <a:ext cx="7035800" cy="4015403"/>
          </a:xfrm>
          <a:prstGeom prst="rect">
            <a:avLst/>
          </a:prstGeom>
          <a:noFill/>
          <a:ln w="9525">
            <a:solidFill>
              <a:srgbClr val="D6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0" y="228600"/>
            <a:ext cx="609600" cy="30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64897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786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65913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Gemma 4 API 시작하기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6800" y="6591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1500" y="673100"/>
            <a:ext cx="177800" cy="254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5500" y="609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1단계 · 코드 없이 써 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889000"/>
            <a:ext cx="3543300" cy="356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50">
                <a:solidFill>
                  <a:srgbClr val="1A1A1A"/>
                </a:solidFill>
                <a:latin typeface="Hanwha B"/>
                <a:ea typeface="Hanwha B"/>
              </a:rPr>
              <a:t>질문하고 답 받기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1334135"/>
            <a:ext cx="3543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아래 입력창에 질문을 쓰고 Enter 키를 누릅니다.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1500" y="2121535"/>
            <a:ext cx="35433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1500" y="2210435"/>
            <a:ext cx="31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>
                <a:solidFill>
                  <a:srgbClr val="E53935"/>
                </a:solidFill>
                <a:latin typeface="Hanwha L"/>
                <a:ea typeface="Hanwha 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7100" y="2261235"/>
            <a:ext cx="31877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내가 보낸 질문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1500" y="2693035"/>
            <a:ext cx="35433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1500" y="2781935"/>
            <a:ext cx="31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>
                <a:solidFill>
                  <a:srgbClr val="E53935"/>
                </a:solidFill>
                <a:latin typeface="Hanwha L"/>
                <a:ea typeface="Hanwha 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7100" y="2832735"/>
            <a:ext cx="31877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Gemma 4의 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7100" y="3112135"/>
            <a:ext cx="3187700" cy="469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Thoughts를 펼치면 모델이 답을 만들며 생각한 과정이 보입니다.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1500" y="5156835"/>
            <a:ext cx="35433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500" y="5271135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>
                <a:solidFill>
                  <a:srgbClr val="ED6F1F"/>
                </a:solidFill>
                <a:latin typeface="Hanwha B"/>
                <a:ea typeface="Hanwha B"/>
              </a:rPr>
              <a:t>참고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8700" y="5258435"/>
            <a:ext cx="3086100" cy="939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처음 실행하면 Google Drive 저장 창이 뜹니다. 기록을 남기지 않으려면 Cancel and use Temporary chat을 누릅니다.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228600"/>
            <a:ext cx="609600" cy="30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4897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786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600" y="65913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Gemma 4 API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6800" y="6591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73100"/>
            <a:ext cx="177800" cy="254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609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2단계 · API 키 발급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89000"/>
            <a:ext cx="11277600" cy="461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>
                <a:solidFill>
                  <a:srgbClr val="1A1A1A"/>
                </a:solidFill>
                <a:latin typeface="Hanwha B"/>
                <a:ea typeface="Hanwha B"/>
              </a:rPr>
              <a:t>구글 클라우드에서 프로젝트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38910"/>
            <a:ext cx="112776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API 키는 프로젝트 안에 만들어집니다. console.cloud.google.com/projectcreate에 들어갑니다.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2095500"/>
            <a:ext cx="12192000" cy="2984500"/>
          </a:xfrm>
          <a:prstGeom prst="rect">
            <a:avLst/>
          </a:prstGeom>
          <a:solidFill>
            <a:srgbClr val="F1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_s2_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66" y="2222500"/>
            <a:ext cx="4779869" cy="27305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35866" y="2222500"/>
            <a:ext cx="4779869" cy="2730500"/>
          </a:xfrm>
          <a:prstGeom prst="rect">
            <a:avLst/>
          </a:prstGeom>
          <a:noFill/>
          <a:ln w="9525">
            <a:solidFill>
              <a:srgbClr val="D6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45100"/>
            <a:ext cx="55372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처음 한 번 뜨는 약관 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372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E53935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100" y="5537200"/>
            <a:ext cx="5321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서비스 약관 동의 체크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03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E53935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5803900"/>
            <a:ext cx="5321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상업적 목적 항목도 체크해야 버튼이 켜집니다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706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E53935"/>
                </a:solidFill>
                <a:latin typeface="Hanwha B"/>
                <a:ea typeface="Hanwha B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100" y="6070600"/>
            <a:ext cx="5321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동의 및 계속하기</a:t>
            </a:r>
          </a:p>
        </p:txBody>
      </p:sp>
      <p:pic>
        <p:nvPicPr>
          <p:cNvPr id="21" name="Picture 20" descr="p_s2_cpro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484" y="2222500"/>
            <a:ext cx="4769432" cy="27305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581484" y="2222500"/>
            <a:ext cx="4769432" cy="2730500"/>
          </a:xfrm>
          <a:prstGeom prst="rect">
            <a:avLst/>
          </a:prstGeom>
          <a:noFill/>
          <a:ln w="9525">
            <a:solidFill>
              <a:srgbClr val="D6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7600" y="5245100"/>
            <a:ext cx="55372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프로젝트 이름 정하기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7600" y="55372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E53935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3500" y="5537200"/>
            <a:ext cx="5321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영문으로 이름 입력 (한글은 오류가 납니다)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7600" y="5803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E53935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3500" y="5803900"/>
            <a:ext cx="5321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만들기 클릭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228600"/>
            <a:ext cx="609600" cy="30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4897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786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600" y="65913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Gemma 4 API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6800" y="6591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73100"/>
            <a:ext cx="177800" cy="254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609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2단계 · API 키 발급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89000"/>
            <a:ext cx="11277600" cy="461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>
                <a:solidFill>
                  <a:srgbClr val="1A1A1A"/>
                </a:solidFill>
                <a:latin typeface="Hanwha B"/>
                <a:ea typeface="Hanwha B"/>
              </a:rPr>
              <a:t>AI Studio로 프로젝트 가져오기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38910"/>
            <a:ext cx="112776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구글 클라우드 콘솔에서 만든 프로젝트를 AI Studio에 연결해야 키를 만들 수 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2095500"/>
            <a:ext cx="12192000" cy="2984500"/>
          </a:xfrm>
          <a:prstGeom prst="rect">
            <a:avLst/>
          </a:prstGeom>
          <a:solidFill>
            <a:srgbClr val="F1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_s2_ke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05" y="2222500"/>
            <a:ext cx="4784389" cy="27305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33605" y="2222500"/>
            <a:ext cx="4784389" cy="2730500"/>
          </a:xfrm>
          <a:prstGeom prst="rect">
            <a:avLst/>
          </a:prstGeom>
          <a:noFill/>
          <a:ln w="9525">
            <a:solidFill>
              <a:srgbClr val="D6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45100"/>
            <a:ext cx="55372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API 키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372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E53935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100" y="5537200"/>
            <a:ext cx="5321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왼쪽 메뉴 API 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03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E53935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5803900"/>
            <a:ext cx="5321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API 키 만들기 → 프로젝트 선택 칸 → 프로젝트 가져오기</a:t>
            </a:r>
          </a:p>
        </p:txBody>
      </p:sp>
      <p:pic>
        <p:nvPicPr>
          <p:cNvPr id="19" name="Picture 18" descr="p_s2_im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484" y="2222500"/>
            <a:ext cx="4769432" cy="27305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581484" y="2222500"/>
            <a:ext cx="4769432" cy="2730500"/>
          </a:xfrm>
          <a:prstGeom prst="rect">
            <a:avLst/>
          </a:prstGeom>
          <a:noFill/>
          <a:ln w="9525">
            <a:solidFill>
              <a:srgbClr val="D6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7600" y="5245100"/>
            <a:ext cx="55372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프로젝트 가져오기 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7600" y="55372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E53935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3500" y="5537200"/>
            <a:ext cx="5321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방금 만든 프로젝트 체크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7600" y="5803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E53935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3500" y="5803900"/>
            <a:ext cx="5321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가져오기 클릭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228600"/>
            <a:ext cx="609600" cy="30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4897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786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600" y="65913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Gemma 4 API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6800" y="6591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73100"/>
            <a:ext cx="177800" cy="254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609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2단계 · API 키 발급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89000"/>
            <a:ext cx="11277600" cy="461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>
                <a:solidFill>
                  <a:srgbClr val="1A1A1A"/>
                </a:solidFill>
                <a:latin typeface="Hanwha B"/>
                <a:ea typeface="Hanwha B"/>
              </a:rPr>
              <a:t>키 만들고 복사하기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38910"/>
            <a:ext cx="112776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키는 비밀번호와 같습니다. 메신저나 메일로 보내지 말고, 코드에 직접 넣지도 않습니다.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2095500"/>
            <a:ext cx="12192000" cy="2984500"/>
          </a:xfrm>
          <a:prstGeom prst="rect">
            <a:avLst/>
          </a:prstGeom>
          <a:solidFill>
            <a:srgbClr val="F1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_s2_keym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84" y="2222500"/>
            <a:ext cx="4769432" cy="27305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41084" y="2222500"/>
            <a:ext cx="4769432" cy="2730500"/>
          </a:xfrm>
          <a:prstGeom prst="rect">
            <a:avLst/>
          </a:prstGeom>
          <a:noFill/>
          <a:ln w="9525">
            <a:solidFill>
              <a:srgbClr val="D6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45100"/>
            <a:ext cx="55372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키 만들기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372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E53935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100" y="5537200"/>
            <a:ext cx="5321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가져온 프로젝트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03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E53935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5803900"/>
            <a:ext cx="5321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키 만들기 클릭</a:t>
            </a:r>
          </a:p>
        </p:txBody>
      </p:sp>
      <p:pic>
        <p:nvPicPr>
          <p:cNvPr id="19" name="Picture 18" descr="p_s2_co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012" y="2222500"/>
            <a:ext cx="4778375" cy="27305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577012" y="2222500"/>
            <a:ext cx="4778375" cy="2730500"/>
          </a:xfrm>
          <a:prstGeom prst="rect">
            <a:avLst/>
          </a:prstGeom>
          <a:noFill/>
          <a:ln w="9525">
            <a:solidFill>
              <a:srgbClr val="D6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7600" y="5245100"/>
            <a:ext cx="55372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키 복사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7600" y="55372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E53935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3500" y="5537200"/>
            <a:ext cx="5321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키 복사를 누르고, 3단계에서 붙여 넣습니다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228600"/>
            <a:ext cx="609600" cy="30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4897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786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600" y="65913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Gemma 4 API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6800" y="6591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73100"/>
            <a:ext cx="177800" cy="254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609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3단계 · PC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89000"/>
            <a:ext cx="11277600" cy="461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>
                <a:solidFill>
                  <a:srgbClr val="1A1A1A"/>
                </a:solidFill>
                <a:latin typeface="Hanwha B"/>
                <a:ea typeface="Hanwha B"/>
              </a:rPr>
              <a:t>Python 설치와 키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38910"/>
            <a:ext cx="112776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Python 3.10 이상과 라이브러리를 설치하고, 키를 환경변수에 저장합니다.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95500"/>
            <a:ext cx="381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>
                <a:solidFill>
                  <a:srgbClr val="ED6F1F"/>
                </a:solidFill>
                <a:latin typeface="Hanwha L"/>
                <a:ea typeface="Hanwha 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" y="219075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>
                <a:solidFill>
                  <a:srgbClr val="1A1A1A"/>
                </a:solidFill>
                <a:latin typeface="Hanwha B"/>
                <a:ea typeface="Hanwha B"/>
              </a:rPr>
              <a:t>라이브러리 설치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1700" y="2571750"/>
            <a:ext cx="10833100" cy="6985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1700" y="2571750"/>
            <a:ext cx="38100" cy="6985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0300" y="2749550"/>
            <a:ext cx="1045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1A1A1A"/>
                </a:solidFill>
                <a:latin typeface="Consolas"/>
                <a:ea typeface="맑은 고딕"/>
              </a:rPr>
              <a:t>python --version          # 3.10 이상인지 확인
pip install google-genai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56000"/>
            <a:ext cx="381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>
                <a:solidFill>
                  <a:srgbClr val="ED6F1F"/>
                </a:solidFill>
                <a:latin typeface="Hanwha L"/>
                <a:ea typeface="Hanwha 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700" y="3651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>
                <a:solidFill>
                  <a:srgbClr val="1A1A1A"/>
                </a:solidFill>
                <a:latin typeface="Hanwha B"/>
                <a:ea typeface="Hanwha B"/>
              </a:rPr>
              <a:t>키를 환경변수 GEMINI_API_KEY에 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700" y="40005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9A9A9A"/>
                </a:solidFill>
                <a:latin typeface="Hanwha B"/>
                <a:ea typeface="Hanwha B"/>
              </a:rPr>
              <a:t>Windows (명령 프롬프트)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700" y="4267200"/>
            <a:ext cx="4826000" cy="6985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1700" y="4267200"/>
            <a:ext cx="38100" cy="6985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0300" y="4445000"/>
            <a:ext cx="444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1A1A1A"/>
                </a:solidFill>
                <a:latin typeface="Consolas"/>
                <a:ea typeface="맑은 고딕"/>
              </a:rPr>
              <a:t>setx GEMINI_API_KEY "복사한키"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9000" y="4000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9A9A9A"/>
                </a:solidFill>
                <a:latin typeface="Hanwha B"/>
                <a:ea typeface="Hanwha B"/>
              </a:rPr>
              <a:t>Mac (터미널)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9000" y="4267200"/>
            <a:ext cx="5765800" cy="6985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9000" y="4267200"/>
            <a:ext cx="38100" cy="6985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7600" y="4445000"/>
            <a:ext cx="538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1A1A1A"/>
                </a:solidFill>
                <a:latin typeface="Consolas"/>
                <a:ea typeface="맑은 고딕"/>
              </a:rPr>
              <a:t>echo 'export GEMINI_API_KEY="복사한키"' &gt;&gt; ~/.zshrc
source ~/.zshrc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880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02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>
                <a:solidFill>
                  <a:srgbClr val="ED6F1F"/>
                </a:solidFill>
                <a:latin typeface="Hanwha B"/>
                <a:ea typeface="Hanwha B"/>
              </a:rPr>
              <a:t>참고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89600"/>
            <a:ext cx="10820400" cy="234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Windows는 setx를 실행한 뒤 명령 프롬프트 창을 닫고 새로 열어야 키가 적용됩니다.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228600"/>
            <a:ext cx="609600" cy="30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4897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786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600" y="65913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Gemma 4 API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6800" y="6591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73100"/>
            <a:ext cx="177800" cy="254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609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4단계 · 첫 호출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89000"/>
            <a:ext cx="11277600" cy="461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>
                <a:solidFill>
                  <a:srgbClr val="1A1A1A"/>
                </a:solidFill>
                <a:latin typeface="Hanwha B"/>
                <a:ea typeface="Hanwha B"/>
              </a:rPr>
              <a:t>코드로 Gemma 4 부르기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38910"/>
            <a:ext cx="112776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아래 내용을 hello.py로 저장하고, python hello.py로 실행합니다.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95500"/>
            <a:ext cx="6985000" cy="31750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95500"/>
            <a:ext cx="38100" cy="31750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73300"/>
            <a:ext cx="6604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1A1A1A"/>
                </a:solidFill>
                <a:latin typeface="Consolas"/>
                <a:ea typeface="맑은 고딕"/>
              </a:rPr>
              <a:t>from google import genai
client = genai.Client()  # 환경변수의 키를 자동으로 읽음
response = client.models.generate_content(
    model="gemma-4-26b-a4b-it",
    contents="점심 메뉴 3가지만 추천해줘",
)
print(response.text)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0" y="20955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9A9A9A"/>
                </a:solidFill>
                <a:latin typeface="Hanwha B"/>
                <a:ea typeface="Hanwha B"/>
              </a:rPr>
              <a:t>읽는 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74000" y="2413000"/>
            <a:ext cx="38608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4000" y="2565400"/>
            <a:ext cx="3860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D85A0E"/>
                </a:solidFill>
                <a:latin typeface="Consolas"/>
                <a:ea typeface="Consolas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4000" y="2908300"/>
            <a:ext cx="38608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어떤 모델에게 물을지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74000" y="3302000"/>
            <a:ext cx="38608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4000" y="3454400"/>
            <a:ext cx="3860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D85A0E"/>
                </a:solidFill>
                <a:latin typeface="Consolas"/>
                <a:ea typeface="Consolas"/>
              </a:rPr>
              <a:t>contents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4000" y="3797300"/>
            <a:ext cx="38608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보낼 질문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74000" y="4191000"/>
            <a:ext cx="38608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4000" y="4343400"/>
            <a:ext cx="3860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D85A0E"/>
                </a:solidFill>
                <a:latin typeface="Consolas"/>
                <a:ea typeface="Consolas"/>
              </a:rPr>
              <a:t>response.text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4000" y="4686300"/>
            <a:ext cx="38608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모델의 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880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702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>
                <a:solidFill>
                  <a:srgbClr val="ED6F1F"/>
                </a:solidFill>
                <a:latin typeface="Hanwha B"/>
                <a:ea typeface="Hanwha B"/>
              </a:rPr>
              <a:t>참고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89600"/>
            <a:ext cx="10820400" cy="234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답이 화면에 출력되면 성공입니다. 오류가 나면 12쪽을 보세요.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228600"/>
            <a:ext cx="609600" cy="30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4897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786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600" y="65913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Gemma 4 API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6800" y="6591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73100"/>
            <a:ext cx="177800" cy="254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609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더 써 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89000"/>
            <a:ext cx="11277600" cy="461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>
                <a:solidFill>
                  <a:srgbClr val="1A1A1A"/>
                </a:solidFill>
                <a:latin typeface="Hanwha B"/>
                <a:ea typeface="Hanwha B"/>
              </a:rPr>
              <a:t>역할 정하기와 대화 이어가기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38910"/>
            <a:ext cx="112776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client = genai.Client() 다음에 이어서 씁니다.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95500"/>
            <a:ext cx="55372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역할과 말투 정하기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5700"/>
            <a:ext cx="5537200" cy="27940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25700"/>
            <a:ext cx="38100" cy="27940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03500"/>
            <a:ext cx="51562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1A1A"/>
                </a:solidFill>
                <a:latin typeface="Consolas"/>
                <a:ea typeface="맑은 고딕"/>
              </a:rPr>
              <a:t>from google.genai import types
config = types.GenerateContentConfig(
    system_instruction="인사팀 담당자처럼 5문장 이내로 답해",
)
response = client.models.generate_content(
    model="gemma-4-26b-a4b-it",
    contents="신입 사원 환영 메일 써줘",
    config=config,
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7600" y="2095500"/>
            <a:ext cx="55372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75">
                <a:solidFill>
                  <a:srgbClr val="1A1A1A"/>
                </a:solidFill>
                <a:latin typeface="Hanwha B"/>
                <a:ea typeface="Hanwha B"/>
              </a:rPr>
              <a:t>대화 이어가기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7600" y="2425700"/>
            <a:ext cx="5537200" cy="27940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7600" y="2425700"/>
            <a:ext cx="38100" cy="27940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6200" y="2603500"/>
            <a:ext cx="51562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1A1A"/>
                </a:solidFill>
                <a:latin typeface="Consolas"/>
                <a:ea typeface="맑은 고딕"/>
              </a:rPr>
              <a:t>chat = client.chats.create(model="gemma-4-26b-a4b-it")
r1 = chat.send_message("제주도 여행지 3곳 추천해줘")
print(r1.text)
r2 = chat.send_message("그중 비 오는 날 갈 곳은?")
print(r2.text)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880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702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>
                <a:solidFill>
                  <a:srgbClr val="ED6F1F"/>
                </a:solidFill>
                <a:latin typeface="Hanwha B"/>
                <a:ea typeface="Hanwha B"/>
              </a:rPr>
              <a:t>참고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89600"/>
            <a:ext cx="10820400" cy="234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system_instruction은 모델의 역할과 말투를 정합니다. chat은 앞의 대화를 기억해서 "그중"이 무엇인지 압니다.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228600"/>
            <a:ext cx="609600" cy="30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4897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786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600" y="65913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Gemma 4 API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6800" y="6591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73100"/>
            <a:ext cx="177800" cy="254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609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문제 해결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89000"/>
            <a:ext cx="11277600" cy="461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>
                <a:solidFill>
                  <a:srgbClr val="1A1A1A"/>
                </a:solidFill>
                <a:latin typeface="Hanwha B"/>
                <a:ea typeface="Hanwha B"/>
              </a:rPr>
              <a:t>오류가 나면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38910"/>
            <a:ext cx="112776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메시지를 보고 아래 표에서 찾으세요.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95500"/>
            <a:ext cx="355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ED6F1F"/>
                </a:solidFill>
                <a:latin typeface="Hanwha B"/>
                <a:ea typeface="Hanwha B"/>
              </a:rPr>
              <a:t>오류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0200" y="2095500"/>
            <a:ext cx="203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ED6F1F"/>
                </a:solidFill>
                <a:latin typeface="Hanwha B"/>
                <a:ea typeface="Hanwha B"/>
              </a:rPr>
              <a:t>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9200" y="2095500"/>
            <a:ext cx="5435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ED6F1F"/>
                </a:solidFill>
                <a:latin typeface="Hanwha B"/>
                <a:ea typeface="Hanwha B"/>
              </a:rPr>
              <a:t>해결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74900"/>
            <a:ext cx="112776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765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1A1A1A"/>
                </a:solidFill>
                <a:latin typeface="Consolas"/>
                <a:ea typeface="맑은 고딕"/>
              </a:rPr>
              <a:t>No API key was provided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0200" y="24765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키를 못 찾음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9200" y="2476500"/>
            <a:ext cx="5435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3단계 환경변수 설정 확인, 터미널 새로 열기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210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972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1A1A1A"/>
                </a:solidFill>
                <a:latin typeface="Consolas"/>
                <a:ea typeface="맑은 고딕"/>
              </a:rPr>
              <a:t>400  API key not valid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0200" y="29972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키가 틀림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9200" y="2997200"/>
            <a:ext cx="5435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키를 다시 복사해 저장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417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179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1A1A1A"/>
                </a:solidFill>
                <a:latin typeface="Consolas"/>
                <a:ea typeface="맑은 고딕"/>
              </a:rPr>
              <a:t>403  PERMISSION_DENIED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0200" y="35179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프로젝트가 막힘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9200" y="3517900"/>
            <a:ext cx="5435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AI Studio 프로젝트 화면 상태가 ‘제한됨’이면 결제 연결 필요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624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386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1A1A1A"/>
                </a:solidFill>
                <a:latin typeface="Consolas"/>
                <a:ea typeface="맑은 고딕"/>
              </a:rPr>
              <a:t>429  RESOURCE_EXHAUSTED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0200" y="40386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사용량 한도 초과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9200" y="4038600"/>
            <a:ext cx="5435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1분쯤 뒤 재시도, 하루 한도를 넘었으면 다음 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831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59300"/>
            <a:ext cx="3556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1A1A1A"/>
                </a:solidFill>
                <a:latin typeface="Consolas"/>
                <a:ea typeface="맑은 고딕"/>
              </a:rPr>
              <a:t>500 · 503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40200" y="45593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구글 서버 일시 문제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9200" y="4559300"/>
            <a:ext cx="5435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잠시 뒤 다시 시도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038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588000"/>
            <a:ext cx="11277600" cy="635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02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>
                <a:solidFill>
                  <a:srgbClr val="ED6F1F"/>
                </a:solidFill>
                <a:latin typeface="Hanwha B"/>
                <a:ea typeface="Hanwha B"/>
              </a:rPr>
              <a:t>참고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689600"/>
            <a:ext cx="10820400" cy="234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>
                <a:solidFill>
                  <a:srgbClr val="4A4A4A"/>
                </a:solidFill>
                <a:latin typeface="Hanwha R"/>
                <a:ea typeface="Hanwha R"/>
              </a:rPr>
              <a:t>그래도 안 되면 오류 메시지 전체를 복사해 담당자에게 보내 주세요. API 키는 빼고 보냅니다.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89700"/>
            <a:ext cx="11277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786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Hanwha B"/>
                <a:ea typeface="Hanwha B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600" y="65913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75">
                <a:solidFill>
                  <a:srgbClr val="FFFFFF"/>
                </a:solidFill>
                <a:latin typeface="Hanwha R"/>
                <a:ea typeface="Hanwha R"/>
              </a:rPr>
              <a:t>Gemma 4 API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6800" y="65913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FFFFFF"/>
                </a:solidFill>
                <a:latin typeface="Hanwha R"/>
                <a:ea typeface="Hanwha 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73100"/>
            <a:ext cx="1778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609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Hanwha B"/>
                <a:ea typeface="Hanwha B"/>
              </a:rPr>
              <a:t>마무리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89000"/>
            <a:ext cx="762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>
                <a:solidFill>
                  <a:srgbClr val="FFFFFF"/>
                </a:solidFill>
                <a:latin typeface="Hanwha B"/>
                <a:ea typeface="Hanwha B"/>
              </a:rPr>
              <a:t>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>
                <a:solidFill>
                  <a:srgbClr val="FFFFFF"/>
                </a:solidFill>
                <a:latin typeface="Hanwha L"/>
                <a:ea typeface="Hanwha 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700" y="21209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>
                <a:solidFill>
                  <a:srgbClr val="FFFFFF"/>
                </a:solidFill>
                <a:latin typeface="Hanwha B"/>
                <a:ea typeface="Hanwha B"/>
              </a:rPr>
              <a:t>AI Studio에서 먼저 써 보고, 필요할 때 API 키를 발급합니다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162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>
                <a:solidFill>
                  <a:srgbClr val="FFFFFF"/>
                </a:solidFill>
                <a:latin typeface="Hanwha L"/>
                <a:ea typeface="Hanwha 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700" y="26797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>
                <a:solidFill>
                  <a:srgbClr val="FFFFFF"/>
                </a:solidFill>
                <a:latin typeface="Hanwha B"/>
                <a:ea typeface="Hanwha B"/>
              </a:rPr>
              <a:t>키는 환경변수에 두고 코드에는 넣지 않습니다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750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>
                <a:solidFill>
                  <a:srgbClr val="FFFFFF"/>
                </a:solidFill>
                <a:latin typeface="Hanwha L"/>
                <a:ea typeface="Hanwha 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700" y="32385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>
                <a:solidFill>
                  <a:srgbClr val="FFFFFF"/>
                </a:solidFill>
                <a:latin typeface="Hanwha B"/>
                <a:ea typeface="Hanwha B"/>
              </a:rPr>
              <a:t>무료지만 한도가 있고, 입력 내용이 구글 제품 개선에 쓰일 수 있습니다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64000"/>
            <a:ext cx="11277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291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FFFFFF"/>
                </a:solidFill>
                <a:latin typeface="Hanwha B"/>
                <a:ea typeface="Hanwha B"/>
              </a:rPr>
              <a:t>참고 링크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339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anwha R"/>
                <a:ea typeface="Hanwha R"/>
              </a:rPr>
              <a:t>AI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6200" y="4533900"/>
            <a:ext cx="889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Consolas"/>
                <a:ea typeface="맑은 고딕"/>
              </a:rPr>
              <a:t>aistudio.google.com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78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anwha R"/>
                <a:ea typeface="Hanwha R"/>
              </a:rPr>
              <a:t>API 키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6200" y="4978400"/>
            <a:ext cx="889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Consolas"/>
                <a:ea typeface="맑은 고딕"/>
              </a:rPr>
              <a:t>ai.google.dev/gemini-api/docs/api-key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229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anwha R"/>
                <a:ea typeface="Hanwha R"/>
              </a:rPr>
              <a:t>요금·무료 조건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6200" y="5422900"/>
            <a:ext cx="889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Consolas"/>
                <a:ea typeface="맑은 고딕"/>
              </a:rPr>
              <a:t>ai.google.dev/gemini-api/docs/pricing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67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anwha R"/>
                <a:ea typeface="Hanwha R"/>
              </a:rPr>
              <a:t>사용량 한도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6200" y="5867400"/>
            <a:ext cx="889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Consolas"/>
                <a:ea typeface="맑은 고딕"/>
              </a:rPr>
              <a:t>ai.google.dev/gemini-api/docs/rate-limits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